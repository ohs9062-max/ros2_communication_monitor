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8.png" ContentType="image/png"/>
  <Override PartName="/ppt/media/image17.png" ContentType="image/png"/>
  <Override PartName="/ppt/media/image12.png" ContentType="image/png"/>
  <Override PartName="/ppt/media/image35.png" ContentType="image/png"/>
  <Override PartName="/ppt/media/image3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_rels/notesSlide1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슬라이드를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이동하려면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클릭하십시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메모 서식을 편집하려면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클릭하십시오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&lt;머리글&gt;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r">
              <a:buNone/>
            </a:pPr>
            <a:fld id="{C7242EBA-A30B-4DA8-A2A4-2407A70D1FEB}" type="slidenum"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&lt;숫자&gt;</a:t>
            </a:fld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프로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젝트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2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통신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관찰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하는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기능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사용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직접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통신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실행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하는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기능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화면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제공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합니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오늘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코드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파일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따라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보다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화면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무엇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확인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하고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무엇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실행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할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수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있는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중심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으로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설명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하겠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습니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크게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자동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터링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rfac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Lab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두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영역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으로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나뉩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용어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쉽게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로봇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프로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그램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들이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서로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데이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터를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주고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받는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실행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환경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대시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직접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제어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터링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관찰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만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rfac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Lab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사용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버튼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눌렀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때만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통신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실행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합니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심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신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확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인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계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해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접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행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세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단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룹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령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러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확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면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체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놓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기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쉽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행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중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인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신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요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경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우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등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록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테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까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게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운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쉽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게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고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받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터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조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형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신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동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행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해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닙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동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역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접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행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요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청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Backend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주기적으로 관찰하고 화면은 그 최신 복사본을 읽습니다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영역에서 실제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Node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 통신이 실행됩니다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rclpy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기반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Backend Monitor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Graph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정보를 모아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Runtime cache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 저장하고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FastAPI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REST API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WebSocket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React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화면으로 전달합니다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Frontend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 직접 접근하지 않는 구조입니다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Runtime cache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Backend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최근에 수집한 상태를 메모리에 보관한 공간입니다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REST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요청이 들어올 때마다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 topic list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실행하나요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아닙니다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rclpy Graph API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 주기 수집한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cache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읽어 반환합니다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심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w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도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정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d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금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넓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게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줍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중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요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능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성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높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만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정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선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없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반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나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w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_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화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면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만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본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장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닙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운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쉽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게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d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치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q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d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m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속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야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정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중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터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d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바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장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애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뜻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닙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진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d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정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간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동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안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남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겨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며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정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함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Topic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화면은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어떤 채널이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있고 데이터가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실제로 얼마나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들어오는지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보여줍니다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Backend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 Graph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Topic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발견하고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지원하는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Message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타입이면 자동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구독합니다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callback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최신 데이터와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수신 시간을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기록하고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일정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구간의 수신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횟수로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Hz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계산해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cache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 화면에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제공합니다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Hz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1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초당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수신 메시지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수를 뜻합니다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stale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최근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메시지가 설정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시간 동안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갱신되지 않은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상태입니다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Topic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Hz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수 있나요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아닙니다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Backend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지원 타입으로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구독해 실제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메시지를 받은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Topic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계산할 수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Service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모니터링은 요청 창구를 관찰하고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Service Call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요청을 실제로 보냅니다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Service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화면에서는 이름과 타입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Server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Client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 관계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현재 사용 가능 상태를 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일반 모니터링은 요청을 보내지 않습니다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설정의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allowlist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 등록한 안전한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Service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만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Active Check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백그라운드로 확인하며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사용자의 실제 요청은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Interface Lab Service Call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실행합니다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Server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요청을 받는 창구이고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Client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요청을 보내는 프로그램입니다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allowlist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호출해도 안전하다고 미리 허용한 목록입니다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Service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화면을 열면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Service Call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발생하나요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아닙니다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화면 조회는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cache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관찰이고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사용자가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Call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눌렀을 때만 명시 요청이 전송됩니다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Acti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on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터링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사용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자의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Goa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실행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서로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다른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경로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Acti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on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시간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걸리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작업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사용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합니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요청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인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Goa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고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중간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Fee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dba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ck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최종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ult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받습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터링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화면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이미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진행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되거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나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관찰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뿐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새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Goa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자동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으로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않습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새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Goa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rfac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Lab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사용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실행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합니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용어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쉽게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ter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min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al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ult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suc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cee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ded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abo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rte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d,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cel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처럼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작업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끝난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뒤의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최종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결과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터가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모든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과거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Goa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ult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조회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아닙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기준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으로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stat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us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관찰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ter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min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al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goa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만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ult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조회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대상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으로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삼습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Node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화면은 각 실행 단위가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Topic, Service, Action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 어떻게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참여하는지 보여줍니다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Node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이름만 보면 역할을 알기 어렵습니다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그래서 이 화면은 발행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·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구독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Topic,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제공하거나 사용하는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Service,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실행하거나 요청하는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Action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관계를 함께 표시합니다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Graph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사라진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Node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화면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깜빡임을 줄이기 위해 잠시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stale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상태로 보존됩니다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stale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프로세스 종료를 직접 확인한 뜻이 아니라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 Graph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더 이상 보이지 않는 상태입니다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stale Node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계속 남아 있나요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아닙니다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설정된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stale timeout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동안만 보존한 뒤 제거됩니다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Visu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aliz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atio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관계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조합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Bac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ken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Fro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nte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일어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납니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화면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네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Mon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itori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ng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데이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터를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옵니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Nod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기준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관계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part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icip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ant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map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으로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통신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기준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맞게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뒤집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grap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hTra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nsfo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rm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ct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Flo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w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nod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edg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변환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합니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선택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Nod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중심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1-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hop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전체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구분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할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수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있습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용어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쉽게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1-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hop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선택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Nod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직접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연결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관계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까지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만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보는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방식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ct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Flo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w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연결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그래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프를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그리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Fro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nte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nd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라이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브러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리입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Bac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ken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/ros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/gra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ph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API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있나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기준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으로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없습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기존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/ros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/no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des,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topi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cs,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serv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ices,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acti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ons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응답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Fro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nte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조합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합니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심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erf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ace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섞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젝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동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작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못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게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동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재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행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중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인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S2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속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erf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ace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신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형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등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록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끝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뒤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Pu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blis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eiv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Cal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접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행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행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hist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ory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쪽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남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쉽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게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Gra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ph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dis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cov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ery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재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S2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떤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신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요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소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동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찾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정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erf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ace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없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동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능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erf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ace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등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록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접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할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때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심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ma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nu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al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typ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만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파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Bui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요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없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새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S2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코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만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미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im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por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능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full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typ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만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등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록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새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정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화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작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성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나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단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파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패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파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생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Bui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im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por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확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요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등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록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만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성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고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바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행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능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것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닙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쉽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게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full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typ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pac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kag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e/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ms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g/T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ype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pac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kag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e/s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rv/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Typ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패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까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함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ma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nu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al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typ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나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넣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닙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미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재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S2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Pyt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경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im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por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능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행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Build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타입 코드를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생성하는 단계이고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Apply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그 앞뒤 과정을 포함합니다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업로드한 파일은 정의서일 뿐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Python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바로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import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할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수 없습니다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패키지 구조와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설정 파일을 준비하고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colcon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build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실행하면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사용할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Python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타입 코드가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생성됩니다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설치 환경 반영과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import-check, registry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갱신까지 묶은 상위 흐름이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Apply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colcon build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workspace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 패키지를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빌드하는 명령입니다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import-check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생성된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Python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타입을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Backend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실제로 불러올 수 있는지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확인합니다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Build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성공이면 바로 실행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가능한가요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항상 그렇지는 않습니다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install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환경 반영과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import-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check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까지 통과해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Backend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import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가능한 상태인지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확인해야 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Topic Lab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데이터를 한 번 발행하거나 사용자가 구독을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시작하고 멈추는 기능입니다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Topic name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데이터를 보낼 채널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full type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데이터 구조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payload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실제 필드 값입니다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Publish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입력을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 Message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 변환해 발행하고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history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 남깁니다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Receive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start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버튼으로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구독을 만들고 받은 메시지를 저장하며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stop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으로 정리합니다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payload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예를 들어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speed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나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enabled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같은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Message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필드에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넣을 실제 값의 묶음입니다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자동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Topic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모니터링의 구독과 같은 기능인가요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아닙니다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자동 모니터링은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supported type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관찰용이고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Interface Lab Receive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사용자가 명시적으로 시작한 테스트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구독입니다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Service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Action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둘 다 직접 실행하지만 응답 구조가 다릅니다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Service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Request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보내고 한 번의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Response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받습니다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Action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Goal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보내고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accepted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여부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중간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Feedback,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최종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Result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받습니다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두 기능 모두 등록과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import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가능하고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현재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Graph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 이름과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full type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정확히 일치해야 실행 후보가 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exact match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통신 이름과 전체 타입이 모두 정확히 같아야 한다는 뜻입니다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validation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payload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Interface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필드 구조에 맞는지 확인합니다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입력값이 틀려도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 Server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 전송되나요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문서 기준으로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validation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실패 시 전송하지 않고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sent_to_server=false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history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 기록합니다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시연은 먼저 관찰 기능을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보여준 뒤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Interface Lab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실행으로 넘어갑니다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Overview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전체 상태를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Topic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 실시간 값과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Hz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확인합니다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Service,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Action, Node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 관계를 본 뒤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Visualization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으로 연결을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확인합니다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다음으로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Interface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등록하거나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업로드하고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Apply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상태와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import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가능 여부를 확인한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뒤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Publish, Receive, Call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또는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Goal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실행하고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history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확인합니다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Apply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Build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버튼 하나가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아니라 파일 준비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Build,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import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확인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상태 갱신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Backend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반영을 포함하는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전체 과정입니다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발표에서 가장 중요한 구분은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무엇인가요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자동 모니터링은 관찰이고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Interface Lab execution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사용자가 직접 실행한다는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구분입니다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제목 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텍스트의 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서식을 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편집하려면 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클릭하십시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.png"/><Relationship Id="rId18" Type="http://schemas.openxmlformats.org/officeDocument/2006/relationships/image" Target="../media/image2.png"/><Relationship Id="rId19" Type="http://schemas.openxmlformats.org/officeDocument/2006/relationships/image" Target="../media/image3.png"/><Relationship Id="rId20" Type="http://schemas.openxmlformats.org/officeDocument/2006/relationships/image" Target="../media/image4.png"/><Relationship Id="rId21" Type="http://schemas.openxmlformats.org/officeDocument/2006/relationships/image" Target="../media/image5.png"/><Relationship Id="rId22" Type="http://schemas.openxmlformats.org/officeDocument/2006/relationships/image" Target="../media/image6.png"/><Relationship Id="rId23" Type="http://schemas.openxmlformats.org/officeDocument/2006/relationships/image" Target="../media/image7.png"/><Relationship Id="rId24" Type="http://schemas.openxmlformats.org/officeDocument/2006/relationships/image" Target="../media/image8.png"/><Relationship Id="rId25" Type="http://schemas.openxmlformats.org/officeDocument/2006/relationships/image" Target="../media/image9.png"/><Relationship Id="rId26" Type="http://schemas.openxmlformats.org/officeDocument/2006/relationships/image" Target="../media/image10.png"/><Relationship Id="rId27" Type="http://schemas.openxmlformats.org/officeDocument/2006/relationships/image" Target="../media/image11.png"/><Relationship Id="rId28" Type="http://schemas.openxmlformats.org/officeDocument/2006/relationships/image" Target="../media/image12.png"/><Relationship Id="rId29" Type="http://schemas.openxmlformats.org/officeDocument/2006/relationships/image" Target="../media/image13.png"/><Relationship Id="rId30" Type="http://schemas.openxmlformats.org/officeDocument/2006/relationships/image" Target="../media/image14.png"/><Relationship Id="rId31" Type="http://schemas.openxmlformats.org/officeDocument/2006/relationships/image" Target="../media/image15.png"/><Relationship Id="rId32" Type="http://schemas.openxmlformats.org/officeDocument/2006/relationships/image" Target="../media/image16.png"/><Relationship Id="rId33" Type="http://schemas.openxmlformats.org/officeDocument/2006/relationships/image" Target="../media/image17.png"/><Relationship Id="rId34" Type="http://schemas.openxmlformats.org/officeDocument/2006/relationships/image" Target="../media/image18.png"/><Relationship Id="rId3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12188520" cy="167760"/>
          </a:xfrm>
          <a:prstGeom prst="rect">
            <a:avLst/>
          </a:prstGeom>
          <a:solidFill>
            <a:srgbClr val="008b8b"/>
          </a:solidFill>
          <a:ln w="9525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CJK KR"/>
              <a:ea typeface="Calibri"/>
            </a:endParaRPr>
          </a:p>
        </p:txBody>
      </p:sp>
      <p:sp>
        <p:nvSpPr>
          <p:cNvPr id="11" name=""/>
          <p:cNvSpPr/>
          <p:nvPr/>
        </p:nvSpPr>
        <p:spPr>
          <a:xfrm>
            <a:off x="685800" y="685800"/>
            <a:ext cx="2854080" cy="320400"/>
          </a:xfrm>
          <a:prstGeom prst="roundRect">
            <a:avLst>
              <a:gd name="adj" fmla="val 23529"/>
            </a:avLst>
          </a:prstGeom>
          <a:solidFill>
            <a:srgbClr val="e8f0f8"/>
          </a:solidFill>
          <a:ln w="9525">
            <a:solidFill>
              <a:srgbClr val="e8f0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12" name=""/>
          <p:cNvSpPr/>
          <p:nvPr/>
        </p:nvSpPr>
        <p:spPr>
          <a:xfrm>
            <a:off x="762120" y="714240"/>
            <a:ext cx="270144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2304a"/>
                </a:solidFill>
                <a:latin typeface="Calibri"/>
                <a:ea typeface="Calibri"/>
              </a:rPr>
              <a:t>ROS2 · rclpy · FastAPI · React</a:t>
            </a: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" name=""/>
          <p:cNvSpPr/>
          <p:nvPr/>
        </p:nvSpPr>
        <p:spPr>
          <a:xfrm>
            <a:off x="685800" y="1504800"/>
            <a:ext cx="7235280" cy="14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2304a"/>
                </a:solidFill>
                <a:latin typeface="Calibri"/>
                <a:ea typeface="Calibri"/>
              </a:rPr>
              <a:t>ROS2 Communication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2304a"/>
                </a:solidFill>
                <a:latin typeface="Calibri"/>
                <a:ea typeface="Calibri"/>
              </a:rPr>
              <a:t>Monitor Dashboard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" name=""/>
          <p:cNvSpPr/>
          <p:nvPr/>
        </p:nvSpPr>
        <p:spPr>
          <a:xfrm>
            <a:off x="723960" y="3143160"/>
            <a:ext cx="656856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870" spc="-1" strike="noStrike">
                <a:solidFill>
                  <a:srgbClr val="008b8b"/>
                </a:solidFill>
                <a:latin typeface="Calibri"/>
                <a:ea typeface="Calibri"/>
              </a:rPr>
              <a:t>실시간 통신 모니터링과 </a:t>
            </a:r>
            <a:r>
              <a:rPr b="1" lang="en-US" sz="1870" spc="-1" strike="noStrike">
                <a:solidFill>
                  <a:srgbClr val="008b8b"/>
                </a:solidFill>
                <a:latin typeface="Calibri"/>
                <a:ea typeface="Calibri"/>
              </a:rPr>
              <a:t>Interface Lab</a:t>
            </a:r>
            <a:endParaRPr b="0" lang="en-US" sz="18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" name=""/>
          <p:cNvSpPr/>
          <p:nvPr/>
        </p:nvSpPr>
        <p:spPr>
          <a:xfrm>
            <a:off x="723960" y="3714840"/>
            <a:ext cx="666396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5b6b78"/>
                </a:solidFill>
                <a:latin typeface="Calibri"/>
                <a:ea typeface="Calibri"/>
              </a:rPr>
              <a:t>ROS2 </a:t>
            </a:r>
            <a:r>
              <a:rPr b="0" lang="ko-KR" sz="1500" spc="-1" strike="noStrike">
                <a:solidFill>
                  <a:srgbClr val="5b6b78"/>
                </a:solidFill>
                <a:latin typeface="Calibri"/>
                <a:ea typeface="Calibri"/>
              </a:rPr>
              <a:t>상태를 한눈에 보고</a:t>
            </a:r>
            <a:r>
              <a:rPr b="0" lang="en-US" sz="1500" spc="-1" strike="noStrike">
                <a:solidFill>
                  <a:srgbClr val="5b6b78"/>
                </a:solidFill>
                <a:latin typeface="Calibri"/>
                <a:ea typeface="Calibri"/>
              </a:rPr>
              <a:t>, </a:t>
            </a:r>
            <a:r>
              <a:rPr b="0" lang="ko-KR" sz="1500" spc="-1" strike="noStrike">
                <a:solidFill>
                  <a:srgbClr val="5b6b78"/>
                </a:solidFill>
                <a:latin typeface="Calibri"/>
                <a:ea typeface="Calibri"/>
              </a:rPr>
              <a:t>필요한 통신을 직접 실행하는 웹 대시보드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" name=""/>
          <p:cNvSpPr/>
          <p:nvPr/>
        </p:nvSpPr>
        <p:spPr>
          <a:xfrm>
            <a:off x="8477280" y="1285920"/>
            <a:ext cx="1996560" cy="1996560"/>
          </a:xfrm>
          <a:prstGeom prst="ellipse">
            <a:avLst/>
          </a:prstGeom>
          <a:solidFill>
            <a:srgbClr val="dff4f2"/>
          </a:solidFill>
          <a:ln w="9525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17" name=""/>
          <p:cNvSpPr/>
          <p:nvPr/>
        </p:nvSpPr>
        <p:spPr>
          <a:xfrm>
            <a:off x="8858160" y="1952640"/>
            <a:ext cx="12348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50" spc="-1" strike="noStrike">
                <a:solidFill>
                  <a:srgbClr val="008b8b"/>
                </a:solidFill>
                <a:latin typeface="Calibri"/>
                <a:ea typeface="Calibri"/>
              </a:rPr>
              <a:t>ROS2</a:t>
            </a:r>
            <a:endParaRPr b="0" lang="en-US" sz="22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" name=""/>
          <p:cNvSpPr/>
          <p:nvPr/>
        </p:nvSpPr>
        <p:spPr>
          <a:xfrm>
            <a:off x="7477200" y="3905280"/>
            <a:ext cx="3997080" cy="99648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19" name=""/>
          <p:cNvSpPr/>
          <p:nvPr/>
        </p:nvSpPr>
        <p:spPr>
          <a:xfrm>
            <a:off x="7715160" y="4095720"/>
            <a:ext cx="152028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2304a"/>
                </a:solidFill>
                <a:latin typeface="Calibri"/>
                <a:ea typeface="Calibri"/>
              </a:rPr>
              <a:t>MONITOR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" name=""/>
          <p:cNvSpPr/>
          <p:nvPr/>
        </p:nvSpPr>
        <p:spPr>
          <a:xfrm>
            <a:off x="7715160" y="4438800"/>
            <a:ext cx="1520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관찰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" name=""/>
          <p:cNvSpPr/>
          <p:nvPr/>
        </p:nvSpPr>
        <p:spPr>
          <a:xfrm>
            <a:off x="9315360" y="4210200"/>
            <a:ext cx="28224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cbd7e1"/>
                </a:solidFill>
                <a:latin typeface="Calibri"/>
                <a:ea typeface="Calibri"/>
              </a:rPr>
              <a:t>+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" name=""/>
          <p:cNvSpPr/>
          <p:nvPr/>
        </p:nvSpPr>
        <p:spPr>
          <a:xfrm>
            <a:off x="9715680" y="4095720"/>
            <a:ext cx="152028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8b8b"/>
                </a:solidFill>
                <a:latin typeface="Calibri"/>
                <a:ea typeface="Calibri"/>
              </a:rPr>
              <a:t>INTERFACE LAB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" name=""/>
          <p:cNvSpPr/>
          <p:nvPr/>
        </p:nvSpPr>
        <p:spPr>
          <a:xfrm>
            <a:off x="9715680" y="4438800"/>
            <a:ext cx="1520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직접 실행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" name=""/>
          <p:cNvSpPr/>
          <p:nvPr/>
        </p:nvSpPr>
        <p:spPr>
          <a:xfrm>
            <a:off x="723960" y="6095880"/>
            <a:ext cx="247284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50" spc="-1" strike="noStrike">
                <a:solidFill>
                  <a:srgbClr val="5b6b78"/>
                </a:solidFill>
                <a:latin typeface="Calibri"/>
                <a:ea typeface="Calibri"/>
              </a:rPr>
              <a:t>기능 중심 발표 자료</a:t>
            </a: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609480" y="266760"/>
            <a:ext cx="20919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2304a"/>
                </a:solidFill>
                <a:latin typeface="Calibri"/>
                <a:ea typeface="Calibri"/>
              </a:rPr>
              <a:t>MONITORING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" name=""/>
          <p:cNvSpPr/>
          <p:nvPr/>
        </p:nvSpPr>
        <p:spPr>
          <a:xfrm>
            <a:off x="609480" y="552600"/>
            <a:ext cx="102834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2550" spc="-1" strike="noStrike">
                <a:solidFill>
                  <a:srgbClr val="12304a"/>
                </a:solidFill>
                <a:latin typeface="Calibri"/>
                <a:ea typeface="Calibri"/>
              </a:rPr>
              <a:t>보이지 않던 </a:t>
            </a:r>
            <a:r>
              <a:rPr b="1" lang="en-US" sz="2550" spc="-1" strike="noStrike">
                <a:solidFill>
                  <a:srgbClr val="12304a"/>
                </a:solidFill>
                <a:latin typeface="Calibri"/>
                <a:ea typeface="Calibri"/>
              </a:rPr>
              <a:t>ROS2 </a:t>
            </a:r>
            <a:r>
              <a:rPr b="1" lang="ko-KR" sz="2550" spc="-1" strike="noStrike">
                <a:solidFill>
                  <a:srgbClr val="12304a"/>
                </a:solidFill>
                <a:latin typeface="Calibri"/>
                <a:ea typeface="Calibri"/>
              </a:rPr>
              <a:t>통신을 화면으로 확인합니다</a:t>
            </a:r>
            <a:endParaRPr b="0" lang="en-US" sz="25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" name=""/>
          <p:cNvSpPr/>
          <p:nvPr/>
        </p:nvSpPr>
        <p:spPr>
          <a:xfrm>
            <a:off x="609480" y="1047600"/>
            <a:ext cx="104738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목록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·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상태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·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관계를 자동으로 모으고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, 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등록한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Interface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로 실제 통신도 시험합니다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" name=""/>
          <p:cNvSpPr/>
          <p:nvPr/>
        </p:nvSpPr>
        <p:spPr>
          <a:xfrm>
            <a:off x="11163240" y="304920"/>
            <a:ext cx="47268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b7c8f"/>
                </a:solidFill>
                <a:latin typeface="Malgun Gothic"/>
                <a:ea typeface="Calibri"/>
              </a:rPr>
              <a:t>02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" name=""/>
          <p:cNvSpPr/>
          <p:nvPr/>
        </p:nvSpPr>
        <p:spPr>
          <a:xfrm>
            <a:off x="666720" y="1790640"/>
            <a:ext cx="3330000" cy="3139560"/>
          </a:xfrm>
          <a:prstGeom prst="roundRect">
            <a:avLst>
              <a:gd name="adj" fmla="val 2424"/>
            </a:avLst>
          </a:prstGeom>
          <a:solidFill>
            <a:srgbClr val="eaf2fb"/>
          </a:solidFill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0" name=""/>
          <p:cNvSpPr/>
          <p:nvPr/>
        </p:nvSpPr>
        <p:spPr>
          <a:xfrm>
            <a:off x="666720" y="1790640"/>
            <a:ext cx="63000" cy="3139560"/>
          </a:xfrm>
          <a:prstGeom prst="rect">
            <a:avLst/>
          </a:prstGeom>
          <a:solidFill>
            <a:srgbClr val="12304a"/>
          </a:solidFill>
          <a:ln w="9525">
            <a:solidFill>
              <a:srgbClr val="1230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CJK KR"/>
              <a:ea typeface="Calibri"/>
            </a:endParaRPr>
          </a:p>
        </p:txBody>
      </p:sp>
      <p:sp>
        <p:nvSpPr>
          <p:cNvPr id="31" name=""/>
          <p:cNvSpPr/>
          <p:nvPr/>
        </p:nvSpPr>
        <p:spPr>
          <a:xfrm>
            <a:off x="895320" y="1943280"/>
            <a:ext cx="29491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2304a"/>
                </a:solidFill>
                <a:latin typeface="Calibri"/>
                <a:ea typeface="Calibri"/>
              </a:rPr>
              <a:t>① </a:t>
            </a:r>
            <a:r>
              <a:rPr b="1" lang="ko-KR" sz="1500" spc="-1" strike="noStrike">
                <a:solidFill>
                  <a:srgbClr val="12304a"/>
                </a:solidFill>
                <a:latin typeface="Calibri"/>
                <a:ea typeface="Calibri"/>
              </a:rPr>
              <a:t>상태 확인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" name=""/>
          <p:cNvSpPr/>
          <p:nvPr/>
        </p:nvSpPr>
        <p:spPr>
          <a:xfrm>
            <a:off x="895320" y="2286000"/>
            <a:ext cx="2949120" cy="25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Node, Topic, Service, Action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의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현재 존재 여부와 통신 상태를 봅니다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" name=""/>
          <p:cNvSpPr/>
          <p:nvPr/>
        </p:nvSpPr>
        <p:spPr>
          <a:xfrm>
            <a:off x="4429080" y="1790640"/>
            <a:ext cx="3330000" cy="3139560"/>
          </a:xfrm>
          <a:prstGeom prst="roundRect">
            <a:avLst>
              <a:gd name="adj" fmla="val 2424"/>
            </a:avLst>
          </a:prstGeom>
          <a:solidFill>
            <a:srgbClr val="f1eff9"/>
          </a:solidFill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4" name=""/>
          <p:cNvSpPr/>
          <p:nvPr/>
        </p:nvSpPr>
        <p:spPr>
          <a:xfrm>
            <a:off x="4429080" y="1790640"/>
            <a:ext cx="63000" cy="3139560"/>
          </a:xfrm>
          <a:prstGeom prst="rect">
            <a:avLst/>
          </a:prstGeom>
          <a:solidFill>
            <a:srgbClr val="7568b4"/>
          </a:solidFill>
          <a:ln w="9525">
            <a:solidFill>
              <a:srgbClr val="7568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CJK KR"/>
              <a:ea typeface="Calibri"/>
            </a:endParaRPr>
          </a:p>
        </p:txBody>
      </p:sp>
      <p:sp>
        <p:nvSpPr>
          <p:cNvPr id="35" name=""/>
          <p:cNvSpPr/>
          <p:nvPr/>
        </p:nvSpPr>
        <p:spPr>
          <a:xfrm>
            <a:off x="4657680" y="1943280"/>
            <a:ext cx="29491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2304a"/>
                </a:solidFill>
                <a:latin typeface="Calibri"/>
                <a:ea typeface="Calibri"/>
              </a:rPr>
              <a:t>② </a:t>
            </a:r>
            <a:r>
              <a:rPr b="1" lang="ko-KR" sz="1500" spc="-1" strike="noStrike">
                <a:solidFill>
                  <a:srgbClr val="12304a"/>
                </a:solidFill>
                <a:latin typeface="Calibri"/>
                <a:ea typeface="Calibri"/>
              </a:rPr>
              <a:t>관계 이해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" name=""/>
          <p:cNvSpPr/>
          <p:nvPr/>
        </p:nvSpPr>
        <p:spPr>
          <a:xfrm>
            <a:off x="4657680" y="2286000"/>
            <a:ext cx="2949120" cy="25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어떤 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Node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가 발행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·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구독하고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요청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·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응답하는지 연결 관계를 봅니다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" name=""/>
          <p:cNvSpPr/>
          <p:nvPr/>
        </p:nvSpPr>
        <p:spPr>
          <a:xfrm>
            <a:off x="8191440" y="1790640"/>
            <a:ext cx="3330000" cy="3139560"/>
          </a:xfrm>
          <a:prstGeom prst="roundRect">
            <a:avLst>
              <a:gd name="adj" fmla="val 2424"/>
            </a:avLst>
          </a:prstGeom>
          <a:solidFill>
            <a:srgbClr val="e6f6f3"/>
          </a:solidFill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8" name=""/>
          <p:cNvSpPr/>
          <p:nvPr/>
        </p:nvSpPr>
        <p:spPr>
          <a:xfrm>
            <a:off x="8191440" y="1790640"/>
            <a:ext cx="63000" cy="3139560"/>
          </a:xfrm>
          <a:prstGeom prst="rect">
            <a:avLst/>
          </a:prstGeom>
          <a:solidFill>
            <a:srgbClr val="008b8b"/>
          </a:solidFill>
          <a:ln w="9525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CJK KR"/>
              <a:ea typeface="Calibri"/>
            </a:endParaRPr>
          </a:p>
        </p:txBody>
      </p:sp>
      <p:sp>
        <p:nvSpPr>
          <p:cNvPr id="39" name=""/>
          <p:cNvSpPr/>
          <p:nvPr/>
        </p:nvSpPr>
        <p:spPr>
          <a:xfrm>
            <a:off x="8420040" y="1943280"/>
            <a:ext cx="29491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2304a"/>
                </a:solidFill>
                <a:latin typeface="Calibri"/>
                <a:ea typeface="Calibri"/>
              </a:rPr>
              <a:t>③ </a:t>
            </a:r>
            <a:r>
              <a:rPr b="1" lang="ko-KR" sz="1500" spc="-1" strike="noStrike">
                <a:solidFill>
                  <a:srgbClr val="12304a"/>
                </a:solidFill>
                <a:latin typeface="Calibri"/>
                <a:ea typeface="Calibri"/>
              </a:rPr>
              <a:t>직접 실행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" name=""/>
          <p:cNvSpPr/>
          <p:nvPr/>
        </p:nvSpPr>
        <p:spPr>
          <a:xfrm>
            <a:off x="8420040" y="2286000"/>
            <a:ext cx="2949120" cy="25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Interface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를 등록한 뒤 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Publish, Call,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Goal 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실행 결과와 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history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를 확인합니다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" name=""/>
          <p:cNvSpPr/>
          <p:nvPr/>
        </p:nvSpPr>
        <p:spPr>
          <a:xfrm>
            <a:off x="800280" y="5391000"/>
            <a:ext cx="1058832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72b3a"/>
                </a:solidFill>
                <a:latin typeface="Calibri"/>
                <a:ea typeface="Calibri"/>
              </a:rPr>
              <a:t>Node = </a:t>
            </a:r>
            <a:r>
              <a:rPr b="1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기능을 수행하는 실행 단위   </a:t>
            </a:r>
            <a:r>
              <a:rPr b="1" lang="en-US" sz="1200" spc="-1" strike="noStrike">
                <a:solidFill>
                  <a:srgbClr val="172b3a"/>
                </a:solidFill>
                <a:latin typeface="Calibri"/>
                <a:ea typeface="Calibri"/>
              </a:rPr>
              <a:t>·   Topic = </a:t>
            </a:r>
            <a:r>
              <a:rPr b="1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계속 전달되는 채널   </a:t>
            </a:r>
            <a:r>
              <a:rPr b="1" lang="en-US" sz="1200" spc="-1" strike="noStrike">
                <a:solidFill>
                  <a:srgbClr val="172b3a"/>
                </a:solidFill>
                <a:latin typeface="Calibri"/>
                <a:ea typeface="Calibri"/>
              </a:rPr>
              <a:t>·   Service = </a:t>
            </a:r>
            <a:r>
              <a:rPr b="1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요청 </a:t>
            </a:r>
            <a:r>
              <a:rPr b="1" lang="en-US" sz="1200" spc="-1" strike="noStrike">
                <a:solidFill>
                  <a:srgbClr val="172b3a"/>
                </a:solidFill>
                <a:latin typeface="Calibri"/>
                <a:ea typeface="Calibri"/>
              </a:rPr>
              <a:t>1</a:t>
            </a:r>
            <a:r>
              <a:rPr b="1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회 </a:t>
            </a:r>
            <a:r>
              <a:rPr b="1" lang="en-US" sz="1200" spc="-1" strike="noStrike">
                <a:solidFill>
                  <a:srgbClr val="172b3a"/>
                </a:solidFill>
                <a:latin typeface="Calibri"/>
                <a:ea typeface="Calibri"/>
              </a:rPr>
              <a:t>+ </a:t>
            </a:r>
            <a:r>
              <a:rPr b="1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응답 </a:t>
            </a:r>
            <a:r>
              <a:rPr b="1" lang="en-US" sz="1200" spc="-1" strike="noStrike">
                <a:solidFill>
                  <a:srgbClr val="172b3a"/>
                </a:solidFill>
                <a:latin typeface="Calibri"/>
                <a:ea typeface="Calibri"/>
              </a:rPr>
              <a:t>1</a:t>
            </a:r>
            <a:r>
              <a:rPr b="1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회   </a:t>
            </a:r>
            <a:r>
              <a:rPr b="1" lang="en-US" sz="1200" spc="-1" strike="noStrike">
                <a:solidFill>
                  <a:srgbClr val="172b3a"/>
                </a:solidFill>
                <a:latin typeface="Calibri"/>
                <a:ea typeface="Calibri"/>
              </a:rPr>
              <a:t>·   Action = </a:t>
            </a:r>
            <a:r>
              <a:rPr b="1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진행 상황이 있는 작업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" name=""/>
          <p:cNvSpPr/>
          <p:nvPr/>
        </p:nvSpPr>
        <p:spPr>
          <a:xfrm>
            <a:off x="609480" y="6476760"/>
            <a:ext cx="10972800" cy="360"/>
          </a:xfrm>
          <a:prstGeom prst="line">
            <a:avLst/>
          </a:prstGeom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43" name=""/>
          <p:cNvSpPr/>
          <p:nvPr/>
        </p:nvSpPr>
        <p:spPr>
          <a:xfrm>
            <a:off x="609480" y="6534000"/>
            <a:ext cx="1096920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44" name="Rectangle 2"/>
          <p:cNvSpPr/>
          <p:nvPr/>
        </p:nvSpPr>
        <p:spPr>
          <a:xfrm>
            <a:off x="0" y="0"/>
            <a:ext cx="12188520" cy="69480"/>
          </a:xfrm>
          <a:prstGeom prst="rect">
            <a:avLst/>
          </a:prstGeom>
          <a:solidFill>
            <a:srgbClr val="00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>
            <a:off x="609480" y="266760"/>
            <a:ext cx="20919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2304a"/>
                </a:solidFill>
                <a:latin typeface="Calibri"/>
                <a:ea typeface="Calibri"/>
              </a:rPr>
              <a:t>MONITORING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" name=""/>
          <p:cNvSpPr/>
          <p:nvPr/>
        </p:nvSpPr>
        <p:spPr>
          <a:xfrm>
            <a:off x="609480" y="552600"/>
            <a:ext cx="102834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pc="-1" strike="noStrike">
                <a:solidFill>
                  <a:srgbClr val="12304a"/>
                </a:solidFill>
                <a:latin typeface="Calibri"/>
                <a:ea typeface="Calibri"/>
              </a:rPr>
              <a:t>ROS2 Graph </a:t>
            </a:r>
            <a:r>
              <a:rPr b="1" lang="ko-KR" sz="2550" spc="-1" strike="noStrike">
                <a:solidFill>
                  <a:srgbClr val="12304a"/>
                </a:solidFill>
                <a:latin typeface="Calibri"/>
                <a:ea typeface="Calibri"/>
              </a:rPr>
              <a:t>상태가 웹 화면까지 전달되는 구조</a:t>
            </a:r>
            <a:endParaRPr b="0" lang="en-US" sz="25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" name=""/>
          <p:cNvSpPr/>
          <p:nvPr/>
        </p:nvSpPr>
        <p:spPr>
          <a:xfrm>
            <a:off x="609480" y="1047600"/>
            <a:ext cx="104738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Backend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가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ROS2 Graph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를 주기적으로 수집하고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, cache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를 거쳐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Frontend 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화면에 출력합니다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. 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" name=""/>
          <p:cNvSpPr/>
          <p:nvPr/>
        </p:nvSpPr>
        <p:spPr>
          <a:xfrm>
            <a:off x="11163240" y="304920"/>
            <a:ext cx="47268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b7c8f"/>
                </a:solidFill>
                <a:latin typeface="Malgun Gothic"/>
                <a:ea typeface="Calibri"/>
              </a:rPr>
              <a:t>03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" name=""/>
          <p:cNvSpPr/>
          <p:nvPr/>
        </p:nvSpPr>
        <p:spPr>
          <a:xfrm>
            <a:off x="2636280" y="2495520"/>
            <a:ext cx="209520" cy="360"/>
          </a:xfrm>
          <a:prstGeom prst="line">
            <a:avLst/>
          </a:prstGeom>
          <a:ln w="19050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50" name=""/>
          <p:cNvSpPr/>
          <p:nvPr/>
        </p:nvSpPr>
        <p:spPr>
          <a:xfrm>
            <a:off x="609480" y="2133720"/>
            <a:ext cx="2023200" cy="720360"/>
          </a:xfrm>
          <a:prstGeom prst="roundRect">
            <a:avLst>
              <a:gd name="adj" fmla="val 10526"/>
            </a:avLst>
          </a:prstGeom>
          <a:solidFill>
            <a:srgbClr val="eaf2fb"/>
          </a:solidFill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51" name=""/>
          <p:cNvSpPr/>
          <p:nvPr/>
        </p:nvSpPr>
        <p:spPr>
          <a:xfrm>
            <a:off x="704880" y="2228760"/>
            <a:ext cx="18327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ROS2 Graph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30" spc="-1" strike="noStrike">
                <a:solidFill>
                  <a:srgbClr val="172b3a"/>
                </a:solidFill>
                <a:latin typeface="Calibri"/>
                <a:ea typeface="Calibri"/>
              </a:rPr>
              <a:t>현재 통신 관계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" name=""/>
          <p:cNvSpPr/>
          <p:nvPr/>
        </p:nvSpPr>
        <p:spPr>
          <a:xfrm>
            <a:off x="4872960" y="2495520"/>
            <a:ext cx="209520" cy="360"/>
          </a:xfrm>
          <a:prstGeom prst="line">
            <a:avLst/>
          </a:prstGeom>
          <a:ln w="19050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53" name=""/>
          <p:cNvSpPr/>
          <p:nvPr/>
        </p:nvSpPr>
        <p:spPr>
          <a:xfrm>
            <a:off x="2846160" y="2133720"/>
            <a:ext cx="2023200" cy="720360"/>
          </a:xfrm>
          <a:prstGeom prst="roundRect">
            <a:avLst>
              <a:gd name="adj" fmla="val 10526"/>
            </a:avLst>
          </a:prstGeom>
          <a:solidFill>
            <a:srgbClr val="eaf2fb"/>
          </a:solidFill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54" name=""/>
          <p:cNvSpPr/>
          <p:nvPr/>
        </p:nvSpPr>
        <p:spPr>
          <a:xfrm>
            <a:off x="2941200" y="2228760"/>
            <a:ext cx="18327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000000"/>
                </a:solidFill>
                <a:latin typeface="Calibri"/>
                <a:ea typeface="Calibri"/>
              </a:rPr>
              <a:t>Rclpy Backend Graph </a:t>
            </a:r>
            <a:r>
              <a:rPr b="1" lang="ko-KR" sz="1130" spc="-1" strike="noStrike">
                <a:solidFill>
                  <a:srgbClr val="000000"/>
                </a:solidFill>
                <a:latin typeface="Calibri"/>
                <a:ea typeface="Calibri"/>
              </a:rPr>
              <a:t>조회 </a:t>
            </a:r>
            <a:r>
              <a:rPr b="1" lang="en-US" sz="1130" spc="-1" strike="noStrike">
                <a:solidFill>
                  <a:srgbClr val="000000"/>
                </a:solidFill>
                <a:latin typeface="Calibri"/>
                <a:ea typeface="Calibri"/>
              </a:rPr>
              <a:t>, </a:t>
            </a:r>
            <a:r>
              <a:rPr b="1" lang="ko-KR" sz="1130" spc="-1" strike="noStrike">
                <a:solidFill>
                  <a:srgbClr val="000000"/>
                </a:solidFill>
                <a:latin typeface="Calibri"/>
                <a:ea typeface="Calibri"/>
              </a:rPr>
              <a:t>수집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" name=""/>
          <p:cNvSpPr/>
          <p:nvPr/>
        </p:nvSpPr>
        <p:spPr>
          <a:xfrm>
            <a:off x="7109280" y="2495520"/>
            <a:ext cx="209520" cy="360"/>
          </a:xfrm>
          <a:prstGeom prst="line">
            <a:avLst/>
          </a:prstGeom>
          <a:ln w="19050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56" name=""/>
          <p:cNvSpPr/>
          <p:nvPr/>
        </p:nvSpPr>
        <p:spPr>
          <a:xfrm>
            <a:off x="5082480" y="2133720"/>
            <a:ext cx="2023200" cy="720360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57" name=""/>
          <p:cNvSpPr/>
          <p:nvPr/>
        </p:nvSpPr>
        <p:spPr>
          <a:xfrm>
            <a:off x="5177880" y="2228760"/>
            <a:ext cx="18327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Runtime cache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30" spc="-1" strike="noStrike">
                <a:solidFill>
                  <a:srgbClr val="172b3a"/>
                </a:solidFill>
                <a:latin typeface="Calibri"/>
                <a:ea typeface="Calibri"/>
              </a:rPr>
              <a:t>최신 상태 보관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8" name=""/>
          <p:cNvSpPr/>
          <p:nvPr/>
        </p:nvSpPr>
        <p:spPr>
          <a:xfrm>
            <a:off x="9345600" y="2495520"/>
            <a:ext cx="209880" cy="360"/>
          </a:xfrm>
          <a:prstGeom prst="line">
            <a:avLst/>
          </a:prstGeom>
          <a:ln w="19050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59" name=""/>
          <p:cNvSpPr/>
          <p:nvPr/>
        </p:nvSpPr>
        <p:spPr>
          <a:xfrm>
            <a:off x="7319160" y="2133720"/>
            <a:ext cx="2023200" cy="720360"/>
          </a:xfrm>
          <a:prstGeom prst="roundRect">
            <a:avLst>
              <a:gd name="adj" fmla="val 10526"/>
            </a:avLst>
          </a:prstGeom>
          <a:solidFill>
            <a:srgbClr val="e6f6f3"/>
          </a:solidFill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60" name=""/>
          <p:cNvSpPr/>
          <p:nvPr/>
        </p:nvSpPr>
        <p:spPr>
          <a:xfrm>
            <a:off x="7414200" y="2228760"/>
            <a:ext cx="18327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REST / WebSocket </a:t>
            </a:r>
            <a:br>
              <a:rPr sz="1130"/>
            </a:br>
            <a:r>
              <a:rPr b="1" lang="ko-KR" sz="1130" spc="-1" strike="noStrike">
                <a:solidFill>
                  <a:srgbClr val="172b3a"/>
                </a:solidFill>
                <a:latin typeface="Calibri"/>
                <a:ea typeface="Calibri"/>
              </a:rPr>
              <a:t>조회 결과 전달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1" name=""/>
          <p:cNvSpPr/>
          <p:nvPr/>
        </p:nvSpPr>
        <p:spPr>
          <a:xfrm>
            <a:off x="9555480" y="2133720"/>
            <a:ext cx="2023200" cy="720360"/>
          </a:xfrm>
          <a:prstGeom prst="roundRect">
            <a:avLst>
              <a:gd name="adj" fmla="val 10526"/>
            </a:avLst>
          </a:prstGeom>
          <a:solidFill>
            <a:srgbClr val="e6f6f3"/>
          </a:solidFill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62" name=""/>
          <p:cNvSpPr/>
          <p:nvPr/>
        </p:nvSpPr>
        <p:spPr>
          <a:xfrm>
            <a:off x="9650880" y="2228760"/>
            <a:ext cx="18327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React Frontend </a:t>
            </a:r>
            <a:r>
              <a:rPr b="1" lang="ko-KR" sz="1130" spc="-1" strike="noStrike">
                <a:solidFill>
                  <a:srgbClr val="172b3a"/>
                </a:solidFill>
                <a:latin typeface="Calibri"/>
                <a:ea typeface="Calibri"/>
              </a:rPr>
              <a:t>목록 </a:t>
            </a: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, </a:t>
            </a:r>
            <a:r>
              <a:rPr b="1" lang="ko-KR" sz="1130" spc="-1" strike="noStrike">
                <a:solidFill>
                  <a:srgbClr val="172b3a"/>
                </a:solidFill>
                <a:latin typeface="Calibri"/>
                <a:ea typeface="Calibri"/>
              </a:rPr>
              <a:t>상세 </a:t>
            </a: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,</a:t>
            </a:r>
            <a:r>
              <a:rPr b="1" lang="ko-KR" sz="1130" spc="-1" strike="noStrike">
                <a:solidFill>
                  <a:srgbClr val="172b3a"/>
                </a:solidFill>
                <a:latin typeface="Calibri"/>
                <a:ea typeface="Calibri"/>
              </a:rPr>
              <a:t>시각화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3" name=""/>
          <p:cNvSpPr/>
          <p:nvPr/>
        </p:nvSpPr>
        <p:spPr>
          <a:xfrm>
            <a:off x="723960" y="3390840"/>
            <a:ext cx="3273120" cy="16156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64" name=""/>
          <p:cNvSpPr/>
          <p:nvPr/>
        </p:nvSpPr>
        <p:spPr>
          <a:xfrm>
            <a:off x="723960" y="3390840"/>
            <a:ext cx="63000" cy="1615680"/>
          </a:xfrm>
          <a:prstGeom prst="rect">
            <a:avLst/>
          </a:prstGeom>
          <a:solidFill>
            <a:srgbClr val="12304a"/>
          </a:solidFill>
          <a:ln w="9525">
            <a:solidFill>
              <a:srgbClr val="1230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CJK KR"/>
              <a:ea typeface="Calibri"/>
            </a:endParaRPr>
          </a:p>
        </p:txBody>
      </p:sp>
      <p:sp>
        <p:nvSpPr>
          <p:cNvPr id="65" name=""/>
          <p:cNvSpPr/>
          <p:nvPr/>
        </p:nvSpPr>
        <p:spPr>
          <a:xfrm>
            <a:off x="952560" y="3543480"/>
            <a:ext cx="289188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500" spc="-1" strike="noStrike">
                <a:solidFill>
                  <a:srgbClr val="12304a"/>
                </a:solidFill>
                <a:latin typeface="Calibri"/>
                <a:ea typeface="Calibri"/>
              </a:rPr>
              <a:t>왜 </a:t>
            </a:r>
            <a:r>
              <a:rPr b="1" lang="en-US" sz="1500" spc="-1" strike="noStrike">
                <a:solidFill>
                  <a:srgbClr val="12304a"/>
                </a:solidFill>
                <a:latin typeface="Calibri"/>
                <a:ea typeface="Calibri"/>
              </a:rPr>
              <a:t>cache</a:t>
            </a:r>
            <a:r>
              <a:rPr b="1" lang="ko-KR" sz="1500" spc="-1" strike="noStrike">
                <a:solidFill>
                  <a:srgbClr val="12304a"/>
                </a:solidFill>
                <a:latin typeface="Calibri"/>
                <a:ea typeface="Calibri"/>
              </a:rPr>
              <a:t>를 쓰나</a:t>
            </a:r>
            <a:r>
              <a:rPr b="1" lang="en-US" sz="1500" spc="-1" strike="noStrike">
                <a:solidFill>
                  <a:srgbClr val="12304a"/>
                </a:solidFill>
                <a:latin typeface="Calibri"/>
                <a:ea typeface="Calibri"/>
              </a:rPr>
              <a:t>?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6" name=""/>
          <p:cNvSpPr/>
          <p:nvPr/>
        </p:nvSpPr>
        <p:spPr>
          <a:xfrm>
            <a:off x="952560" y="3886200"/>
            <a:ext cx="289188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화면 요청마다 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ROS2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를 다시 스캔하지 않고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이미 모은 최신 상태를 빠르게 반환합니다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7" name=""/>
          <p:cNvSpPr/>
          <p:nvPr/>
        </p:nvSpPr>
        <p:spPr>
          <a:xfrm>
            <a:off x="4457880" y="3390840"/>
            <a:ext cx="3273120" cy="16156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68" name=""/>
          <p:cNvSpPr/>
          <p:nvPr/>
        </p:nvSpPr>
        <p:spPr>
          <a:xfrm>
            <a:off x="4457880" y="3390840"/>
            <a:ext cx="63000" cy="1615680"/>
          </a:xfrm>
          <a:prstGeom prst="rect">
            <a:avLst/>
          </a:prstGeom>
          <a:solidFill>
            <a:srgbClr val="7568b4"/>
          </a:solidFill>
          <a:ln w="9525">
            <a:solidFill>
              <a:srgbClr val="7568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CJK KR"/>
              <a:ea typeface="Calibri"/>
            </a:endParaRPr>
          </a:p>
        </p:txBody>
      </p:sp>
      <p:sp>
        <p:nvSpPr>
          <p:cNvPr id="69" name=""/>
          <p:cNvSpPr/>
          <p:nvPr/>
        </p:nvSpPr>
        <p:spPr>
          <a:xfrm>
            <a:off x="4686480" y="3543480"/>
            <a:ext cx="289188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2304a"/>
                </a:solidFill>
                <a:latin typeface="Calibri"/>
                <a:ea typeface="Calibri"/>
              </a:rPr>
              <a:t>REST</a:t>
            </a:r>
            <a:r>
              <a:rPr b="1" lang="ko-KR" sz="1500" spc="-1" strike="noStrike">
                <a:solidFill>
                  <a:srgbClr val="12304a"/>
                </a:solidFill>
                <a:latin typeface="Calibri"/>
                <a:ea typeface="Calibri"/>
              </a:rPr>
              <a:t>의 역할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0" name=""/>
          <p:cNvSpPr/>
          <p:nvPr/>
        </p:nvSpPr>
        <p:spPr>
          <a:xfrm>
            <a:off x="4686480" y="3886200"/>
            <a:ext cx="289188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Topic·Service·Action·Node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의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상세 목록과 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snapshot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을 전달합니다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1" name=""/>
          <p:cNvSpPr/>
          <p:nvPr/>
        </p:nvSpPr>
        <p:spPr>
          <a:xfrm>
            <a:off x="8191440" y="3390840"/>
            <a:ext cx="3273120" cy="16156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72" name=""/>
          <p:cNvSpPr/>
          <p:nvPr/>
        </p:nvSpPr>
        <p:spPr>
          <a:xfrm>
            <a:off x="8191440" y="3390840"/>
            <a:ext cx="63000" cy="1615680"/>
          </a:xfrm>
          <a:prstGeom prst="rect">
            <a:avLst/>
          </a:prstGeom>
          <a:solidFill>
            <a:srgbClr val="008b8b"/>
          </a:solidFill>
          <a:ln w="9525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CJK KR"/>
              <a:ea typeface="Calibri"/>
            </a:endParaRPr>
          </a:p>
        </p:txBody>
      </p:sp>
      <p:sp>
        <p:nvSpPr>
          <p:cNvPr id="73" name=""/>
          <p:cNvSpPr/>
          <p:nvPr/>
        </p:nvSpPr>
        <p:spPr>
          <a:xfrm>
            <a:off x="8420040" y="3543480"/>
            <a:ext cx="289188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2304a"/>
                </a:solidFill>
                <a:latin typeface="Calibri"/>
                <a:ea typeface="Calibri"/>
              </a:rPr>
              <a:t>WebSocket</a:t>
            </a:r>
            <a:r>
              <a:rPr b="1" lang="ko-KR" sz="1500" spc="-1" strike="noStrike">
                <a:solidFill>
                  <a:srgbClr val="12304a"/>
                </a:solidFill>
                <a:latin typeface="Calibri"/>
                <a:ea typeface="Calibri"/>
              </a:rPr>
              <a:t>의 역할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4" name=""/>
          <p:cNvSpPr/>
          <p:nvPr/>
        </p:nvSpPr>
        <p:spPr>
          <a:xfrm>
            <a:off x="8420040" y="3886200"/>
            <a:ext cx="289188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연결 상태와 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Alert count 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같은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가벼운 요약을 보조 전달합니다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5" name=""/>
          <p:cNvSpPr/>
          <p:nvPr/>
        </p:nvSpPr>
        <p:spPr>
          <a:xfrm>
            <a:off x="609480" y="6476760"/>
            <a:ext cx="10972800" cy="360"/>
          </a:xfrm>
          <a:prstGeom prst="line">
            <a:avLst/>
          </a:prstGeom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76" name=""/>
          <p:cNvSpPr/>
          <p:nvPr/>
        </p:nvSpPr>
        <p:spPr>
          <a:xfrm>
            <a:off x="609480" y="6534000"/>
            <a:ext cx="1096920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750" spc="-1" strike="noStrike">
                <a:solidFill>
                  <a:srgbClr val="5b6b78"/>
                </a:solidFill>
                <a:latin typeface="Calibri"/>
                <a:ea typeface="Calibri"/>
              </a:rPr>
              <a:t>근거</a:t>
            </a:r>
            <a:r>
              <a:rPr b="0" lang="en-US" sz="750" spc="-1" strike="noStrike">
                <a:solidFill>
                  <a:srgbClr val="5b6b78"/>
                </a:solidFill>
                <a:latin typeface="Calibri"/>
                <a:ea typeface="Calibri"/>
              </a:rPr>
              <a:t>: main.py · ros_monitor.py · routers/monitoring.py · 02_backend_flow.md · 08_websocket_flow.md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7" name="Rectangle 3"/>
          <p:cNvSpPr/>
          <p:nvPr/>
        </p:nvSpPr>
        <p:spPr>
          <a:xfrm>
            <a:off x="0" y="0"/>
            <a:ext cx="12188520" cy="69480"/>
          </a:xfrm>
          <a:prstGeom prst="rect">
            <a:avLst/>
          </a:prstGeom>
          <a:solidFill>
            <a:srgbClr val="00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1"/>
          <p:cNvSpPr/>
          <p:nvPr/>
        </p:nvSpPr>
        <p:spPr>
          <a:xfrm>
            <a:off x="1230480" y="320040"/>
            <a:ext cx="9572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022948"/>
                </a:solidFill>
                <a:latin typeface="Malgun Gothic"/>
                <a:ea typeface="Calibri"/>
              </a:rPr>
              <a:t>ARCHITECTURE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9" name="TextBox 14"/>
          <p:cNvSpPr/>
          <p:nvPr/>
        </p:nvSpPr>
        <p:spPr>
          <a:xfrm>
            <a:off x="11423880" y="320040"/>
            <a:ext cx="3002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800" spc="-1" strike="noStrike">
                <a:solidFill>
                  <a:srgbClr val="6b7c8f"/>
                </a:solidFill>
                <a:latin typeface="Malgun Gothic"/>
                <a:ea typeface="Calibri"/>
              </a:rPr>
              <a:t>04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0" name="TextBox 30"/>
          <p:cNvSpPr/>
          <p:nvPr/>
        </p:nvSpPr>
        <p:spPr>
          <a:xfrm>
            <a:off x="4386240" y="576000"/>
            <a:ext cx="3426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ko-KR" sz="2400" spc="-1" strike="noStrike">
                <a:solidFill>
                  <a:srgbClr val="022948"/>
                </a:solidFill>
                <a:latin typeface="Malgun Gothic"/>
                <a:ea typeface="Calibri"/>
              </a:rPr>
              <a:t>사용 </a:t>
            </a:r>
            <a:r>
              <a:rPr b="1" lang="ko-KR" sz="2400" spc="-1" strike="noStrike">
                <a:solidFill>
                  <a:srgbClr val="022948"/>
                </a:solidFill>
                <a:latin typeface="Malgun Gothic"/>
                <a:ea typeface="Calibri"/>
              </a:rPr>
              <a:t>기술 </a:t>
            </a:r>
            <a:r>
              <a:rPr b="1" lang="ko-KR" sz="2400" spc="-1" strike="noStrike">
                <a:solidFill>
                  <a:srgbClr val="022948"/>
                </a:solidFill>
                <a:latin typeface="Malgun Gothic"/>
                <a:ea typeface="Calibri"/>
              </a:rPr>
              <a:t>스택과 </a:t>
            </a:r>
            <a:r>
              <a:rPr b="1" lang="ko-KR" sz="2400" spc="-1" strike="noStrike">
                <a:solidFill>
                  <a:srgbClr val="022948"/>
                </a:solidFill>
                <a:latin typeface="Malgun Gothic"/>
                <a:ea typeface="Calibri"/>
              </a:rPr>
              <a:t>사용 </a:t>
            </a:r>
            <a:r>
              <a:rPr b="1" lang="ko-KR" sz="2400" spc="-1" strike="noStrike">
                <a:solidFill>
                  <a:srgbClr val="022948"/>
                </a:solidFill>
                <a:latin typeface="Malgun Gothic"/>
                <a:ea typeface="Calibri"/>
              </a:rPr>
              <a:t>목적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1" name="TextBox 32"/>
          <p:cNvSpPr/>
          <p:nvPr/>
        </p:nvSpPr>
        <p:spPr>
          <a:xfrm>
            <a:off x="2445840" y="1080000"/>
            <a:ext cx="7308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Backend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  <a:ea typeface="Calibri"/>
              </a:rPr>
              <a:t>와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Frontend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  <a:ea typeface="Calibri"/>
              </a:rPr>
              <a:t>에 사용한 핵심 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  <a:ea typeface="Calibri"/>
              </a:rPr>
              <a:t>기술과 각 기술의 역할을 정리했습니다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2" name="Rectangle 82"/>
          <p:cNvSpPr/>
          <p:nvPr/>
        </p:nvSpPr>
        <p:spPr>
          <a:xfrm>
            <a:off x="696960" y="1463040"/>
            <a:ext cx="11002320" cy="1507680"/>
          </a:xfrm>
          <a:prstGeom prst="rect">
            <a:avLst/>
          </a:prstGeom>
          <a:solidFill>
            <a:srgbClr val="ffffff"/>
          </a:solidFill>
          <a:ln>
            <a:solidFill>
              <a:srgbClr val="c8d6e2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83" name="Rectangle 83"/>
          <p:cNvSpPr/>
          <p:nvPr/>
        </p:nvSpPr>
        <p:spPr>
          <a:xfrm>
            <a:off x="696960" y="1486080"/>
            <a:ext cx="11002320" cy="501840"/>
          </a:xfrm>
          <a:prstGeom prst="rect">
            <a:avLst/>
          </a:prstGeom>
          <a:solidFill>
            <a:srgbClr val="f6f9fc"/>
          </a:solidFill>
          <a:ln>
            <a:solidFill>
              <a:srgbClr val="c8d6e2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84" name="Rectangle 84"/>
          <p:cNvSpPr/>
          <p:nvPr/>
        </p:nvSpPr>
        <p:spPr>
          <a:xfrm>
            <a:off x="696960" y="1980000"/>
            <a:ext cx="11002320" cy="7920"/>
          </a:xfrm>
          <a:prstGeom prst="rect">
            <a:avLst/>
          </a:prstGeom>
          <a:solidFill>
            <a:srgbClr val="c8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85" name="Rectangle 85"/>
          <p:cNvSpPr/>
          <p:nvPr/>
        </p:nvSpPr>
        <p:spPr>
          <a:xfrm>
            <a:off x="696960" y="2460600"/>
            <a:ext cx="11002320" cy="7920"/>
          </a:xfrm>
          <a:prstGeom prst="rect">
            <a:avLst/>
          </a:prstGeom>
          <a:solidFill>
            <a:srgbClr val="c8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86" name="Rectangle 86"/>
          <p:cNvSpPr/>
          <p:nvPr/>
        </p:nvSpPr>
        <p:spPr>
          <a:xfrm>
            <a:off x="2011680" y="1463040"/>
            <a:ext cx="7920" cy="1507680"/>
          </a:xfrm>
          <a:prstGeom prst="rect">
            <a:avLst/>
          </a:prstGeom>
          <a:solidFill>
            <a:srgbClr val="c8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87" name="TextBox 87"/>
          <p:cNvSpPr/>
          <p:nvPr/>
        </p:nvSpPr>
        <p:spPr>
          <a:xfrm>
            <a:off x="1098360" y="1614240"/>
            <a:ext cx="3024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ko-KR" sz="1300" spc="-1" strike="noStrike">
                <a:solidFill>
                  <a:srgbClr val="000000"/>
                </a:solidFill>
                <a:latin typeface="Calibri"/>
                <a:ea typeface="Calibri"/>
              </a:rPr>
              <a:t>구분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5473800" y="1614240"/>
            <a:ext cx="651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ko-KR" sz="1300" spc="-1" strike="noStrike">
                <a:solidFill>
                  <a:srgbClr val="000000"/>
                </a:solidFill>
                <a:latin typeface="Calibri"/>
                <a:ea typeface="Calibri"/>
              </a:rPr>
              <a:t>기술 스택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9" name="TextBox 89"/>
          <p:cNvSpPr/>
          <p:nvPr/>
        </p:nvSpPr>
        <p:spPr>
          <a:xfrm>
            <a:off x="1002960" y="2125080"/>
            <a:ext cx="6134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Backend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982440" y="2628000"/>
            <a:ext cx="6544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Frontend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1" name="Rectangle 101"/>
          <p:cNvSpPr/>
          <p:nvPr/>
        </p:nvSpPr>
        <p:spPr>
          <a:xfrm>
            <a:off x="594360" y="3780000"/>
            <a:ext cx="72000" cy="2159640"/>
          </a:xfrm>
          <a:prstGeom prst="rect">
            <a:avLst/>
          </a:prstGeom>
          <a:solidFill>
            <a:srgbClr val="0a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92" name="TextBox 103"/>
          <p:cNvSpPr/>
          <p:nvPr/>
        </p:nvSpPr>
        <p:spPr>
          <a:xfrm>
            <a:off x="2000160" y="3824280"/>
            <a:ext cx="314928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Topic, Service, Action, Node 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로 구성된</a:t>
            </a:r>
            <a:br>
              <a:rPr sz="1150"/>
            </a:b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로봇 통신 환경 플랫폼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3" name="TextBox 105"/>
          <p:cNvSpPr/>
          <p:nvPr/>
        </p:nvSpPr>
        <p:spPr>
          <a:xfrm>
            <a:off x="2000160" y="4351680"/>
            <a:ext cx="31492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실행중인 </a:t>
            </a: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ROS2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리소스와 연결관계를 조회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4" name="TextBox 107"/>
          <p:cNvSpPr/>
          <p:nvPr/>
        </p:nvSpPr>
        <p:spPr>
          <a:xfrm>
            <a:off x="2000160" y="4791600"/>
            <a:ext cx="31492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Python 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환경에서 </a:t>
            </a: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ROS2 Node, Subscription 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구성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5" name="TextBox 109"/>
          <p:cNvSpPr/>
          <p:nvPr/>
        </p:nvSpPr>
        <p:spPr>
          <a:xfrm>
            <a:off x="1980000" y="5223960"/>
            <a:ext cx="31492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수집된 </a:t>
            </a: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ROS2 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상태와 기능을 </a:t>
            </a: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Front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에 제공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6" name="TextBox 111"/>
          <p:cNvSpPr/>
          <p:nvPr/>
        </p:nvSpPr>
        <p:spPr>
          <a:xfrm>
            <a:off x="7250040" y="3911760"/>
            <a:ext cx="33991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연결 상태와 </a:t>
            </a: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Alert 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요약을 실시간 전달하는 통신채널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7" name="TextBox 113"/>
          <p:cNvSpPr/>
          <p:nvPr/>
        </p:nvSpPr>
        <p:spPr>
          <a:xfrm>
            <a:off x="7250040" y="4351680"/>
            <a:ext cx="33991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ROS2 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상태를 실시간 반영하기 위한 동적 </a:t>
            </a: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UI 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구성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8" name="TextBox 115"/>
          <p:cNvSpPr/>
          <p:nvPr/>
        </p:nvSpPr>
        <p:spPr>
          <a:xfrm>
            <a:off x="7250040" y="4791600"/>
            <a:ext cx="33991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React 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개발 환경 단순화 및 빠른 화면 수정 과 실행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9" name="TextBox 117"/>
          <p:cNvSpPr/>
          <p:nvPr/>
        </p:nvSpPr>
        <p:spPr>
          <a:xfrm>
            <a:off x="7250040" y="5231880"/>
            <a:ext cx="33991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Node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와 통신 관계를 확대</a:t>
            </a: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,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이동 가능한 그래프로 시각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00" name="Picture 101" descr="image.png"/>
          <p:cNvPicPr/>
          <p:nvPr/>
        </p:nvPicPr>
        <p:blipFill>
          <a:blip r:embed="rId1"/>
          <a:stretch/>
        </p:blipFill>
        <p:spPr>
          <a:xfrm>
            <a:off x="2180160" y="2070000"/>
            <a:ext cx="759240" cy="299160"/>
          </a:xfrm>
          <a:prstGeom prst="rect">
            <a:avLst/>
          </a:prstGeom>
          <a:ln w="0">
            <a:noFill/>
          </a:ln>
        </p:spPr>
      </p:pic>
      <p:pic>
        <p:nvPicPr>
          <p:cNvPr id="101" name="Picture 102" descr="image.png"/>
          <p:cNvPicPr/>
          <p:nvPr/>
        </p:nvPicPr>
        <p:blipFill>
          <a:blip r:embed="rId2"/>
          <a:stretch/>
        </p:blipFill>
        <p:spPr>
          <a:xfrm>
            <a:off x="2234160" y="2139120"/>
            <a:ext cx="161280" cy="161280"/>
          </a:xfrm>
          <a:prstGeom prst="rect">
            <a:avLst/>
          </a:prstGeom>
          <a:ln w="0">
            <a:noFill/>
          </a:ln>
        </p:spPr>
      </p:pic>
      <p:sp>
        <p:nvSpPr>
          <p:cNvPr id="102" name="TextBox 34"/>
          <p:cNvSpPr/>
          <p:nvPr/>
        </p:nvSpPr>
        <p:spPr>
          <a:xfrm>
            <a:off x="2504160" y="2143080"/>
            <a:ext cx="3268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ROS2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03" name="Picture 104" descr="image.png"/>
          <p:cNvPicPr/>
          <p:nvPr/>
        </p:nvPicPr>
        <p:blipFill>
          <a:blip r:embed="rId3"/>
          <a:stretch/>
        </p:blipFill>
        <p:spPr>
          <a:xfrm>
            <a:off x="3049920" y="2070000"/>
            <a:ext cx="1149120" cy="299160"/>
          </a:xfrm>
          <a:prstGeom prst="rect">
            <a:avLst/>
          </a:prstGeom>
          <a:ln w="0">
            <a:noFill/>
          </a:ln>
        </p:spPr>
      </p:pic>
      <p:pic>
        <p:nvPicPr>
          <p:cNvPr id="104" name="Picture 105" descr="image.png"/>
          <p:cNvPicPr/>
          <p:nvPr/>
        </p:nvPicPr>
        <p:blipFill>
          <a:blip r:embed="rId4"/>
          <a:stretch/>
        </p:blipFill>
        <p:spPr>
          <a:xfrm>
            <a:off x="3103920" y="2139120"/>
            <a:ext cx="161280" cy="161280"/>
          </a:xfrm>
          <a:prstGeom prst="rect">
            <a:avLst/>
          </a:prstGeom>
          <a:ln w="0">
            <a:noFill/>
          </a:ln>
        </p:spPr>
      </p:pic>
      <p:sp>
        <p:nvSpPr>
          <p:cNvPr id="105" name="TextBox 106"/>
          <p:cNvSpPr/>
          <p:nvPr/>
        </p:nvSpPr>
        <p:spPr>
          <a:xfrm>
            <a:off x="3388680" y="2143080"/>
            <a:ext cx="6879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GRAPH API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06" name="Picture 107" descr="image.png"/>
          <p:cNvPicPr/>
          <p:nvPr/>
        </p:nvPicPr>
        <p:blipFill>
          <a:blip r:embed="rId5"/>
          <a:stretch/>
        </p:blipFill>
        <p:spPr>
          <a:xfrm>
            <a:off x="4309920" y="2070000"/>
            <a:ext cx="819360" cy="299160"/>
          </a:xfrm>
          <a:prstGeom prst="rect">
            <a:avLst/>
          </a:prstGeom>
          <a:ln w="0">
            <a:noFill/>
          </a:ln>
        </p:spPr>
      </p:pic>
      <p:pic>
        <p:nvPicPr>
          <p:cNvPr id="107" name="Picture 108" descr="image.png"/>
          <p:cNvPicPr/>
          <p:nvPr/>
        </p:nvPicPr>
        <p:blipFill>
          <a:blip r:embed="rId6"/>
          <a:stretch/>
        </p:blipFill>
        <p:spPr>
          <a:xfrm>
            <a:off x="4363920" y="2139120"/>
            <a:ext cx="161280" cy="161280"/>
          </a:xfrm>
          <a:prstGeom prst="rect">
            <a:avLst/>
          </a:prstGeom>
          <a:ln w="0">
            <a:noFill/>
          </a:ln>
        </p:spPr>
      </p:pic>
      <p:sp>
        <p:nvSpPr>
          <p:cNvPr id="108" name="TextBox 36"/>
          <p:cNvSpPr/>
          <p:nvPr/>
        </p:nvSpPr>
        <p:spPr>
          <a:xfrm>
            <a:off x="4630680" y="2143080"/>
            <a:ext cx="3938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RCLPY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09" name="Picture 110" descr="image.png"/>
          <p:cNvPicPr/>
          <p:nvPr/>
        </p:nvPicPr>
        <p:blipFill>
          <a:blip r:embed="rId7"/>
          <a:stretch/>
        </p:blipFill>
        <p:spPr>
          <a:xfrm>
            <a:off x="5240160" y="2070000"/>
            <a:ext cx="929160" cy="299160"/>
          </a:xfrm>
          <a:prstGeom prst="rect">
            <a:avLst/>
          </a:prstGeom>
          <a:ln w="0">
            <a:noFill/>
          </a:ln>
        </p:spPr>
      </p:pic>
      <p:pic>
        <p:nvPicPr>
          <p:cNvPr id="110" name="Picture 111" descr="image.png"/>
          <p:cNvPicPr/>
          <p:nvPr/>
        </p:nvPicPr>
        <p:blipFill>
          <a:blip r:embed="rId8"/>
          <a:stretch/>
        </p:blipFill>
        <p:spPr>
          <a:xfrm>
            <a:off x="5294160" y="2139120"/>
            <a:ext cx="161280" cy="161280"/>
          </a:xfrm>
          <a:prstGeom prst="rect">
            <a:avLst/>
          </a:prstGeom>
          <a:ln w="0">
            <a:noFill/>
          </a:ln>
        </p:spPr>
      </p:pic>
      <p:sp>
        <p:nvSpPr>
          <p:cNvPr id="111" name="TextBox 112"/>
          <p:cNvSpPr/>
          <p:nvPr/>
        </p:nvSpPr>
        <p:spPr>
          <a:xfrm>
            <a:off x="5560920" y="2143080"/>
            <a:ext cx="5036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FASTAPI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12" name="Picture 113" descr="image.png"/>
          <p:cNvPicPr/>
          <p:nvPr/>
        </p:nvPicPr>
        <p:blipFill>
          <a:blip r:embed="rId9"/>
          <a:stretch/>
        </p:blipFill>
        <p:spPr>
          <a:xfrm>
            <a:off x="6279840" y="2070000"/>
            <a:ext cx="1219320" cy="299160"/>
          </a:xfrm>
          <a:prstGeom prst="rect">
            <a:avLst/>
          </a:prstGeom>
          <a:ln w="0">
            <a:noFill/>
          </a:ln>
        </p:spPr>
      </p:pic>
      <p:pic>
        <p:nvPicPr>
          <p:cNvPr id="113" name="Picture 114" descr="image.png"/>
          <p:cNvPicPr/>
          <p:nvPr/>
        </p:nvPicPr>
        <p:blipFill>
          <a:blip r:embed="rId10"/>
          <a:stretch/>
        </p:blipFill>
        <p:spPr>
          <a:xfrm>
            <a:off x="6333840" y="2139120"/>
            <a:ext cx="161280" cy="161280"/>
          </a:xfrm>
          <a:prstGeom prst="rect">
            <a:avLst/>
          </a:prstGeom>
          <a:ln w="0">
            <a:noFill/>
          </a:ln>
        </p:spPr>
      </p:pic>
      <p:sp>
        <p:nvSpPr>
          <p:cNvPr id="114" name="TextBox 38"/>
          <p:cNvSpPr/>
          <p:nvPr/>
        </p:nvSpPr>
        <p:spPr>
          <a:xfrm>
            <a:off x="6619320" y="2143080"/>
            <a:ext cx="7567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WEBSOCKET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15" name="Picture 116" descr="image.png"/>
          <p:cNvPicPr/>
          <p:nvPr/>
        </p:nvPicPr>
        <p:blipFill>
          <a:blip r:embed="rId11"/>
          <a:stretch/>
        </p:blipFill>
        <p:spPr>
          <a:xfrm>
            <a:off x="2180160" y="2570040"/>
            <a:ext cx="819360" cy="299160"/>
          </a:xfrm>
          <a:prstGeom prst="rect">
            <a:avLst/>
          </a:prstGeom>
          <a:ln w="0">
            <a:noFill/>
          </a:ln>
        </p:spPr>
      </p:pic>
      <p:pic>
        <p:nvPicPr>
          <p:cNvPr id="116" name="Picture 117" descr="image.png"/>
          <p:cNvPicPr/>
          <p:nvPr/>
        </p:nvPicPr>
        <p:blipFill>
          <a:blip r:embed="rId12"/>
          <a:stretch/>
        </p:blipFill>
        <p:spPr>
          <a:xfrm>
            <a:off x="2234160" y="2639160"/>
            <a:ext cx="161280" cy="161280"/>
          </a:xfrm>
          <a:prstGeom prst="rect">
            <a:avLst/>
          </a:prstGeom>
          <a:ln w="0">
            <a:noFill/>
          </a:ln>
        </p:spPr>
      </p:pic>
      <p:sp>
        <p:nvSpPr>
          <p:cNvPr id="117" name="TextBox 118"/>
          <p:cNvSpPr/>
          <p:nvPr/>
        </p:nvSpPr>
        <p:spPr>
          <a:xfrm>
            <a:off x="2501280" y="2643120"/>
            <a:ext cx="3924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REACT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18" name="Picture 119" descr="image.png"/>
          <p:cNvPicPr/>
          <p:nvPr/>
        </p:nvPicPr>
        <p:blipFill>
          <a:blip r:embed="rId13"/>
          <a:stretch/>
        </p:blipFill>
        <p:spPr>
          <a:xfrm>
            <a:off x="3110040" y="2570040"/>
            <a:ext cx="699120" cy="299160"/>
          </a:xfrm>
          <a:prstGeom prst="rect">
            <a:avLst/>
          </a:prstGeom>
          <a:ln w="0">
            <a:noFill/>
          </a:ln>
        </p:spPr>
      </p:pic>
      <p:pic>
        <p:nvPicPr>
          <p:cNvPr id="119" name="Picture 120" descr="image.png"/>
          <p:cNvPicPr/>
          <p:nvPr/>
        </p:nvPicPr>
        <p:blipFill>
          <a:blip r:embed="rId14"/>
          <a:stretch/>
        </p:blipFill>
        <p:spPr>
          <a:xfrm>
            <a:off x="3164040" y="2639160"/>
            <a:ext cx="161280" cy="1612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121"/>
          <p:cNvSpPr/>
          <p:nvPr/>
        </p:nvSpPr>
        <p:spPr>
          <a:xfrm>
            <a:off x="3430080" y="2643120"/>
            <a:ext cx="2750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VITE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21" name="Picture 122" descr="image.png"/>
          <p:cNvPicPr/>
          <p:nvPr/>
        </p:nvPicPr>
        <p:blipFill>
          <a:blip r:embed="rId15"/>
          <a:stretch/>
        </p:blipFill>
        <p:spPr>
          <a:xfrm>
            <a:off x="3920040" y="2570040"/>
            <a:ext cx="1249200" cy="299160"/>
          </a:xfrm>
          <a:prstGeom prst="rect">
            <a:avLst/>
          </a:prstGeom>
          <a:ln w="0">
            <a:noFill/>
          </a:ln>
        </p:spPr>
      </p:pic>
      <p:pic>
        <p:nvPicPr>
          <p:cNvPr id="122" name="Picture 123" descr="image.png"/>
          <p:cNvPicPr/>
          <p:nvPr/>
        </p:nvPicPr>
        <p:blipFill>
          <a:blip r:embed="rId16"/>
          <a:stretch/>
        </p:blipFill>
        <p:spPr>
          <a:xfrm>
            <a:off x="3974040" y="2639160"/>
            <a:ext cx="161280" cy="161280"/>
          </a:xfrm>
          <a:prstGeom prst="rect">
            <a:avLst/>
          </a:prstGeom>
          <a:ln w="0">
            <a:noFill/>
          </a:ln>
        </p:spPr>
      </p:pic>
      <p:sp>
        <p:nvSpPr>
          <p:cNvPr id="123" name="TextBox 124"/>
          <p:cNvSpPr/>
          <p:nvPr/>
        </p:nvSpPr>
        <p:spPr>
          <a:xfrm>
            <a:off x="4259880" y="2643120"/>
            <a:ext cx="7855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REACT FLOW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TextBox 125"/>
          <p:cNvSpPr/>
          <p:nvPr/>
        </p:nvSpPr>
        <p:spPr>
          <a:xfrm>
            <a:off x="825840" y="3184920"/>
            <a:ext cx="2047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ko-KR" sz="2100" spc="-1" strike="noStrike">
                <a:solidFill>
                  <a:srgbClr val="052f4f"/>
                </a:solidFill>
                <a:latin typeface="Malgun Gothic"/>
                <a:ea typeface="Calibri"/>
              </a:rPr>
              <a:t>기술별 사용 목적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25" name="Picture 126" descr="image.png"/>
          <p:cNvPicPr/>
          <p:nvPr/>
        </p:nvPicPr>
        <p:blipFill>
          <a:blip r:embed="rId17"/>
          <a:stretch/>
        </p:blipFill>
        <p:spPr>
          <a:xfrm>
            <a:off x="820080" y="3850200"/>
            <a:ext cx="849240" cy="274320"/>
          </a:xfrm>
          <a:prstGeom prst="rect">
            <a:avLst/>
          </a:prstGeom>
          <a:ln w="0">
            <a:noFill/>
          </a:ln>
        </p:spPr>
      </p:pic>
      <p:pic>
        <p:nvPicPr>
          <p:cNvPr id="126" name="Picture 127" descr="image.png"/>
          <p:cNvPicPr/>
          <p:nvPr/>
        </p:nvPicPr>
        <p:blipFill>
          <a:blip r:embed="rId18"/>
          <a:stretch/>
        </p:blipFill>
        <p:spPr>
          <a:xfrm>
            <a:off x="869400" y="3913560"/>
            <a:ext cx="147960" cy="147960"/>
          </a:xfrm>
          <a:prstGeom prst="rect">
            <a:avLst/>
          </a:prstGeom>
          <a:ln w="0">
            <a:noFill/>
          </a:ln>
        </p:spPr>
      </p:pic>
      <p:sp>
        <p:nvSpPr>
          <p:cNvPr id="127" name="TextBox 128"/>
          <p:cNvSpPr/>
          <p:nvPr/>
        </p:nvSpPr>
        <p:spPr>
          <a:xfrm>
            <a:off x="1180080" y="3910680"/>
            <a:ext cx="3268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ROS2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28" name="Picture 129" descr="image.png"/>
          <p:cNvPicPr/>
          <p:nvPr/>
        </p:nvPicPr>
        <p:blipFill>
          <a:blip r:embed="rId19"/>
          <a:stretch/>
        </p:blipFill>
        <p:spPr>
          <a:xfrm>
            <a:off x="820080" y="4290120"/>
            <a:ext cx="1049400" cy="274320"/>
          </a:xfrm>
          <a:prstGeom prst="rect">
            <a:avLst/>
          </a:prstGeom>
          <a:ln w="0">
            <a:noFill/>
          </a:ln>
        </p:spPr>
      </p:pic>
      <p:pic>
        <p:nvPicPr>
          <p:cNvPr id="129" name="Picture 130" descr="image.png"/>
          <p:cNvPicPr/>
          <p:nvPr/>
        </p:nvPicPr>
        <p:blipFill>
          <a:blip r:embed="rId20"/>
          <a:stretch/>
        </p:blipFill>
        <p:spPr>
          <a:xfrm>
            <a:off x="869400" y="4353480"/>
            <a:ext cx="147960" cy="147960"/>
          </a:xfrm>
          <a:prstGeom prst="rect">
            <a:avLst/>
          </a:prstGeom>
          <a:ln w="0">
            <a:noFill/>
          </a:ln>
        </p:spPr>
      </p:pic>
      <p:sp>
        <p:nvSpPr>
          <p:cNvPr id="130" name="TextBox 131"/>
          <p:cNvSpPr/>
          <p:nvPr/>
        </p:nvSpPr>
        <p:spPr>
          <a:xfrm>
            <a:off x="1099440" y="4350600"/>
            <a:ext cx="6879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GRAPH API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31" name="Picture 132" descr="image.png"/>
          <p:cNvPicPr/>
          <p:nvPr/>
        </p:nvPicPr>
        <p:blipFill>
          <a:blip r:embed="rId21"/>
          <a:stretch/>
        </p:blipFill>
        <p:spPr>
          <a:xfrm>
            <a:off x="820080" y="4730040"/>
            <a:ext cx="849240" cy="274320"/>
          </a:xfrm>
          <a:prstGeom prst="rect">
            <a:avLst/>
          </a:prstGeom>
          <a:ln w="0">
            <a:noFill/>
          </a:ln>
        </p:spPr>
      </p:pic>
      <p:pic>
        <p:nvPicPr>
          <p:cNvPr id="132" name="Picture 133" descr="image.png"/>
          <p:cNvPicPr/>
          <p:nvPr/>
        </p:nvPicPr>
        <p:blipFill>
          <a:blip r:embed="rId22"/>
          <a:stretch/>
        </p:blipFill>
        <p:spPr>
          <a:xfrm>
            <a:off x="869400" y="4793400"/>
            <a:ext cx="147960" cy="147960"/>
          </a:xfrm>
          <a:prstGeom prst="rect">
            <a:avLst/>
          </a:prstGeom>
          <a:ln w="0">
            <a:noFill/>
          </a:ln>
        </p:spPr>
      </p:pic>
      <p:sp>
        <p:nvSpPr>
          <p:cNvPr id="133" name="TextBox 134"/>
          <p:cNvSpPr/>
          <p:nvPr/>
        </p:nvSpPr>
        <p:spPr>
          <a:xfrm>
            <a:off x="1146600" y="4790520"/>
            <a:ext cx="3938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RCLPY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34" name="Picture 135" descr="image.png"/>
          <p:cNvPicPr/>
          <p:nvPr/>
        </p:nvPicPr>
        <p:blipFill>
          <a:blip r:embed="rId23"/>
          <a:stretch/>
        </p:blipFill>
        <p:spPr>
          <a:xfrm>
            <a:off x="820080" y="5170320"/>
            <a:ext cx="849240" cy="274320"/>
          </a:xfrm>
          <a:prstGeom prst="rect">
            <a:avLst/>
          </a:prstGeom>
          <a:ln w="0">
            <a:noFill/>
          </a:ln>
        </p:spPr>
      </p:pic>
      <p:pic>
        <p:nvPicPr>
          <p:cNvPr id="135" name="Picture 136" descr="image.png"/>
          <p:cNvPicPr/>
          <p:nvPr/>
        </p:nvPicPr>
        <p:blipFill>
          <a:blip r:embed="rId24"/>
          <a:stretch/>
        </p:blipFill>
        <p:spPr>
          <a:xfrm>
            <a:off x="869400" y="5233320"/>
            <a:ext cx="147960" cy="147960"/>
          </a:xfrm>
          <a:prstGeom prst="rect">
            <a:avLst/>
          </a:prstGeom>
          <a:ln w="0">
            <a:noFill/>
          </a:ln>
        </p:spPr>
      </p:pic>
      <p:sp>
        <p:nvSpPr>
          <p:cNvPr id="136" name="TextBox 137"/>
          <p:cNvSpPr/>
          <p:nvPr/>
        </p:nvSpPr>
        <p:spPr>
          <a:xfrm>
            <a:off x="1091520" y="5230800"/>
            <a:ext cx="5036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FASTAPI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37" name="Picture 138" descr="image.png"/>
          <p:cNvPicPr/>
          <p:nvPr/>
        </p:nvPicPr>
        <p:blipFill>
          <a:blip r:embed="rId25"/>
          <a:stretch/>
        </p:blipFill>
        <p:spPr>
          <a:xfrm>
            <a:off x="5950080" y="3850200"/>
            <a:ext cx="1149120" cy="274320"/>
          </a:xfrm>
          <a:prstGeom prst="rect">
            <a:avLst/>
          </a:prstGeom>
          <a:ln w="0">
            <a:noFill/>
          </a:ln>
        </p:spPr>
      </p:pic>
      <p:pic>
        <p:nvPicPr>
          <p:cNvPr id="138" name="Picture 139" descr="image.png"/>
          <p:cNvPicPr/>
          <p:nvPr/>
        </p:nvPicPr>
        <p:blipFill>
          <a:blip r:embed="rId26"/>
          <a:stretch/>
        </p:blipFill>
        <p:spPr>
          <a:xfrm>
            <a:off x="5999400" y="3913560"/>
            <a:ext cx="147960" cy="147960"/>
          </a:xfrm>
          <a:prstGeom prst="rect">
            <a:avLst/>
          </a:prstGeom>
          <a:ln w="0">
            <a:noFill/>
          </a:ln>
        </p:spPr>
      </p:pic>
      <p:sp>
        <p:nvSpPr>
          <p:cNvPr id="139" name="TextBox 140"/>
          <p:cNvSpPr/>
          <p:nvPr/>
        </p:nvSpPr>
        <p:spPr>
          <a:xfrm>
            <a:off x="6245280" y="3910680"/>
            <a:ext cx="7567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WEBSOCKET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40" name="Picture 141" descr="image.png"/>
          <p:cNvPicPr/>
          <p:nvPr/>
        </p:nvPicPr>
        <p:blipFill>
          <a:blip r:embed="rId27"/>
          <a:stretch/>
        </p:blipFill>
        <p:spPr>
          <a:xfrm>
            <a:off x="5950080" y="4290120"/>
            <a:ext cx="849240" cy="274320"/>
          </a:xfrm>
          <a:prstGeom prst="rect">
            <a:avLst/>
          </a:prstGeom>
          <a:ln w="0">
            <a:noFill/>
          </a:ln>
        </p:spPr>
      </p:pic>
      <p:pic>
        <p:nvPicPr>
          <p:cNvPr id="141" name="Picture 142" descr="image.png"/>
          <p:cNvPicPr/>
          <p:nvPr/>
        </p:nvPicPr>
        <p:blipFill>
          <a:blip r:embed="rId28"/>
          <a:stretch/>
        </p:blipFill>
        <p:spPr>
          <a:xfrm>
            <a:off x="5999400" y="4353480"/>
            <a:ext cx="147960" cy="147960"/>
          </a:xfrm>
          <a:prstGeom prst="rect">
            <a:avLst/>
          </a:prstGeom>
          <a:ln w="0">
            <a:noFill/>
          </a:ln>
        </p:spPr>
      </p:pic>
      <p:sp>
        <p:nvSpPr>
          <p:cNvPr id="142" name="TextBox 143"/>
          <p:cNvSpPr/>
          <p:nvPr/>
        </p:nvSpPr>
        <p:spPr>
          <a:xfrm>
            <a:off x="6277320" y="4350600"/>
            <a:ext cx="3924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REACT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43" name="Picture 144" descr="image.png"/>
          <p:cNvPicPr/>
          <p:nvPr/>
        </p:nvPicPr>
        <p:blipFill>
          <a:blip r:embed="rId29"/>
          <a:stretch/>
        </p:blipFill>
        <p:spPr>
          <a:xfrm>
            <a:off x="5950080" y="4730040"/>
            <a:ext cx="849240" cy="274320"/>
          </a:xfrm>
          <a:prstGeom prst="rect">
            <a:avLst/>
          </a:prstGeom>
          <a:ln w="0">
            <a:noFill/>
          </a:ln>
        </p:spPr>
      </p:pic>
      <p:pic>
        <p:nvPicPr>
          <p:cNvPr id="144" name="Picture 145" descr="image.png"/>
          <p:cNvPicPr/>
          <p:nvPr/>
        </p:nvPicPr>
        <p:blipFill>
          <a:blip r:embed="rId30"/>
          <a:stretch/>
        </p:blipFill>
        <p:spPr>
          <a:xfrm>
            <a:off x="5999400" y="4793400"/>
            <a:ext cx="147960" cy="147960"/>
          </a:xfrm>
          <a:prstGeom prst="rect">
            <a:avLst/>
          </a:prstGeom>
          <a:ln w="0">
            <a:noFill/>
          </a:ln>
        </p:spPr>
      </p:pic>
      <p:sp>
        <p:nvSpPr>
          <p:cNvPr id="145" name="TextBox 146"/>
          <p:cNvSpPr/>
          <p:nvPr/>
        </p:nvSpPr>
        <p:spPr>
          <a:xfrm>
            <a:off x="6336000" y="4790520"/>
            <a:ext cx="2750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VITE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46" name="Picture 147" descr="image.png"/>
          <p:cNvPicPr/>
          <p:nvPr/>
        </p:nvPicPr>
        <p:blipFill>
          <a:blip r:embed="rId31"/>
          <a:stretch/>
        </p:blipFill>
        <p:spPr>
          <a:xfrm>
            <a:off x="5950080" y="5170320"/>
            <a:ext cx="1149120" cy="274320"/>
          </a:xfrm>
          <a:prstGeom prst="rect">
            <a:avLst/>
          </a:prstGeom>
          <a:ln w="0">
            <a:noFill/>
          </a:ln>
        </p:spPr>
      </p:pic>
      <p:pic>
        <p:nvPicPr>
          <p:cNvPr id="147" name="Picture 148" descr="image.png"/>
          <p:cNvPicPr/>
          <p:nvPr/>
        </p:nvPicPr>
        <p:blipFill>
          <a:blip r:embed="rId32"/>
          <a:stretch/>
        </p:blipFill>
        <p:spPr>
          <a:xfrm>
            <a:off x="5999400" y="5233320"/>
            <a:ext cx="147960" cy="147960"/>
          </a:xfrm>
          <a:prstGeom prst="rect">
            <a:avLst/>
          </a:prstGeom>
          <a:ln w="0">
            <a:noFill/>
          </a:ln>
        </p:spPr>
      </p:pic>
      <p:sp>
        <p:nvSpPr>
          <p:cNvPr id="148" name="TextBox 149"/>
          <p:cNvSpPr/>
          <p:nvPr/>
        </p:nvSpPr>
        <p:spPr>
          <a:xfrm>
            <a:off x="6230880" y="5230800"/>
            <a:ext cx="7855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REACT FLOW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49" name="Picture 4" descr="image.png"/>
          <p:cNvPicPr/>
          <p:nvPr/>
        </p:nvPicPr>
        <p:blipFill>
          <a:blip r:embed="rId33"/>
          <a:stretch/>
        </p:blipFill>
        <p:spPr>
          <a:xfrm>
            <a:off x="820080" y="5654520"/>
            <a:ext cx="799560" cy="285120"/>
          </a:xfrm>
          <a:prstGeom prst="rect">
            <a:avLst/>
          </a:prstGeom>
          <a:ln w="0">
            <a:noFill/>
          </a:ln>
        </p:spPr>
      </p:pic>
      <p:pic>
        <p:nvPicPr>
          <p:cNvPr id="150" name="Picture 2" descr="image.png"/>
          <p:cNvPicPr/>
          <p:nvPr/>
        </p:nvPicPr>
        <p:blipFill>
          <a:blip r:embed="rId34"/>
          <a:stretch/>
        </p:blipFill>
        <p:spPr>
          <a:xfrm>
            <a:off x="900000" y="5760000"/>
            <a:ext cx="109800" cy="132480"/>
          </a:xfrm>
          <a:prstGeom prst="rect">
            <a:avLst/>
          </a:prstGeom>
          <a:ln w="0">
            <a:noFill/>
          </a:ln>
        </p:spPr>
      </p:pic>
      <p:sp>
        <p:nvSpPr>
          <p:cNvPr id="151" name=""/>
          <p:cNvSpPr/>
          <p:nvPr/>
        </p:nvSpPr>
        <p:spPr>
          <a:xfrm>
            <a:off x="1010160" y="5678280"/>
            <a:ext cx="50184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980" spc="-1" strike="noStrike">
                <a:solidFill>
                  <a:srgbClr val="ffffff"/>
                </a:solidFill>
                <a:latin typeface="Inter ExtraBold"/>
              </a:rPr>
              <a:t>YAML</a:t>
            </a:r>
            <a:endParaRPr b="0" lang="en-US" sz="9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2" name="TextBox 39"/>
          <p:cNvSpPr/>
          <p:nvPr/>
        </p:nvSpPr>
        <p:spPr>
          <a:xfrm>
            <a:off x="1980000" y="5718960"/>
            <a:ext cx="34196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Message 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타입과 주요 </a:t>
            </a: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Interface 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외부 설정으로 분리 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3" name="Rectangle 17"/>
          <p:cNvSpPr/>
          <p:nvPr/>
        </p:nvSpPr>
        <p:spPr>
          <a:xfrm>
            <a:off x="5760000" y="3780000"/>
            <a:ext cx="72000" cy="2159640"/>
          </a:xfrm>
          <a:prstGeom prst="rect">
            <a:avLst/>
          </a:prstGeom>
          <a:solidFill>
            <a:srgbClr val="0a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54" name="Rectangle 18"/>
          <p:cNvSpPr/>
          <p:nvPr/>
        </p:nvSpPr>
        <p:spPr>
          <a:xfrm>
            <a:off x="0" y="0"/>
            <a:ext cx="12188520" cy="69480"/>
          </a:xfrm>
          <a:prstGeom prst="rect">
            <a:avLst/>
          </a:prstGeom>
          <a:solidFill>
            <a:srgbClr val="00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0" y="0"/>
            <a:ext cx="12188520" cy="69480"/>
          </a:xfrm>
          <a:prstGeom prst="rect">
            <a:avLst/>
          </a:prstGeom>
          <a:solidFill>
            <a:srgbClr val="00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821160" y="146160"/>
            <a:ext cx="787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07bbe"/>
                </a:solidFill>
                <a:latin typeface="Calibri"/>
                <a:ea typeface="Calibri"/>
              </a:rPr>
              <a:t>MONITORING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7" name="TextBox 3"/>
          <p:cNvSpPr/>
          <p:nvPr/>
        </p:nvSpPr>
        <p:spPr>
          <a:xfrm>
            <a:off x="11277720" y="146160"/>
            <a:ext cx="3002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800" spc="-1" strike="noStrike">
                <a:solidFill>
                  <a:srgbClr val="6b7c8f"/>
                </a:solidFill>
                <a:latin typeface="Malgun Gothic"/>
                <a:ea typeface="Calibri"/>
              </a:rPr>
              <a:t>05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8" name="TextBox 4"/>
          <p:cNvSpPr/>
          <p:nvPr/>
        </p:nvSpPr>
        <p:spPr>
          <a:xfrm>
            <a:off x="2941920" y="384120"/>
            <a:ext cx="61477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Overview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는 전체 상태와 </a:t>
            </a: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Alert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를 한눈에 보여줍니다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9" name="TextBox 5"/>
          <p:cNvSpPr/>
          <p:nvPr/>
        </p:nvSpPr>
        <p:spPr>
          <a:xfrm>
            <a:off x="3838680" y="822960"/>
            <a:ext cx="40248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요약 카드는 상태를 넓게 보여주고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, Alert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는 조치가 필요한 조건만 선별합니다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.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0" name="Rounded Rectangle 9"/>
          <p:cNvSpPr/>
          <p:nvPr/>
        </p:nvSpPr>
        <p:spPr>
          <a:xfrm>
            <a:off x="77724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0094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9488"/>
                </a:solidFill>
                <a:latin typeface="Calibri"/>
                <a:ea typeface="Calibri"/>
              </a:rPr>
              <a:t>Node · Topic · Service · Action </a:t>
            </a:r>
            <a:r>
              <a:rPr b="1" lang="ko-KR" sz="850" spc="-1" strike="noStrike">
                <a:solidFill>
                  <a:srgbClr val="009488"/>
                </a:solidFill>
                <a:latin typeface="Calibri"/>
                <a:ea typeface="Calibri"/>
              </a:rPr>
              <a:t>요약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1" name="Rounded Rectangle 10"/>
          <p:cNvSpPr/>
          <p:nvPr/>
        </p:nvSpPr>
        <p:spPr>
          <a:xfrm>
            <a:off x="436788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f0aa3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최근 </a:t>
            </a:r>
            <a:r>
              <a:rPr b="1" lang="en-US" sz="850" spc="-1" strike="noStrike">
                <a:solidFill>
                  <a:srgbClr val="f0aa3c"/>
                </a:solidFill>
                <a:latin typeface="Calibri"/>
                <a:ea typeface="Calibri"/>
              </a:rPr>
              <a:t>Alert</a:t>
            </a: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와 상태 분포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2" name="Rounded Rectangle 11"/>
          <p:cNvSpPr/>
          <p:nvPr/>
        </p:nvSpPr>
        <p:spPr>
          <a:xfrm>
            <a:off x="795816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007bb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7bbe"/>
                </a:solidFill>
                <a:latin typeface="Calibri"/>
                <a:ea typeface="Calibri"/>
              </a:rPr>
              <a:t>Badge</a:t>
            </a:r>
            <a:r>
              <a:rPr b="1" lang="ko-KR" sz="850" spc="-1" strike="noStrike">
                <a:solidFill>
                  <a:srgbClr val="007bbe"/>
                </a:solidFill>
                <a:latin typeface="Calibri"/>
                <a:ea typeface="Calibri"/>
              </a:rPr>
              <a:t>와 </a:t>
            </a:r>
            <a:r>
              <a:rPr b="1" lang="en-US" sz="850" spc="-1" strike="noStrike">
                <a:solidFill>
                  <a:srgbClr val="007bbe"/>
                </a:solidFill>
                <a:latin typeface="Calibri"/>
                <a:ea typeface="Calibri"/>
              </a:rPr>
              <a:t>Alert</a:t>
            </a:r>
            <a:r>
              <a:rPr b="1" lang="ko-KR" sz="850" spc="-1" strike="noStrike">
                <a:solidFill>
                  <a:srgbClr val="007bbe"/>
                </a:solidFill>
                <a:latin typeface="Calibri"/>
                <a:ea typeface="Calibri"/>
              </a:rPr>
              <a:t>는 별도 기준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3" name="TextBox 12"/>
          <p:cNvSpPr/>
          <p:nvPr/>
        </p:nvSpPr>
        <p:spPr>
          <a:xfrm>
            <a:off x="457200" y="6565320"/>
            <a:ext cx="112435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실제 화면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: Overview / Recent Alert /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상태 분포</a:t>
            </a:r>
            <a:endParaRPr b="0" lang="en-US" sz="62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64" name="Picture 1" descr="overview.png"/>
          <p:cNvPicPr/>
          <p:nvPr/>
        </p:nvPicPr>
        <p:blipFill>
          <a:blip r:embed="rId1"/>
          <a:srcRect l="3293" t="0" r="0" b="0"/>
          <a:stretch/>
        </p:blipFill>
        <p:spPr>
          <a:xfrm>
            <a:off x="1080000" y="1170360"/>
            <a:ext cx="10024920" cy="452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9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66" name="TextBox 2"/>
          <p:cNvSpPr/>
          <p:nvPr/>
        </p:nvSpPr>
        <p:spPr>
          <a:xfrm>
            <a:off x="685800" y="255960"/>
            <a:ext cx="1827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850" spc="-1" strike="noStrike">
                <a:solidFill>
                  <a:srgbClr val="002d4e"/>
                </a:solidFill>
                <a:latin typeface="Aptos"/>
                <a:ea typeface="Calibri"/>
              </a:rPr>
              <a:t>MONITORING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7" name="TextBox 3"/>
          <p:cNvSpPr/>
          <p:nvPr/>
        </p:nvSpPr>
        <p:spPr>
          <a:xfrm>
            <a:off x="11338560" y="274320"/>
            <a:ext cx="3639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800" spc="-1" strike="noStrike">
                <a:solidFill>
                  <a:srgbClr val="6b7c8f"/>
                </a:solidFill>
                <a:latin typeface="Malgun Gothic"/>
                <a:ea typeface="Calibri"/>
              </a:rPr>
              <a:t>06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8" name="TextBox 4"/>
          <p:cNvSpPr/>
          <p:nvPr/>
        </p:nvSpPr>
        <p:spPr>
          <a:xfrm>
            <a:off x="685800" y="548640"/>
            <a:ext cx="10056600" cy="4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50" spc="-1" strike="noStrike">
                <a:solidFill>
                  <a:srgbClr val="002d4e"/>
                </a:solidFill>
                <a:latin typeface="Aptos"/>
                <a:ea typeface="Calibri"/>
              </a:rPr>
              <a:t>Alert</a:t>
            </a:r>
            <a:r>
              <a:rPr b="1" lang="ko-KR" sz="2450" spc="-1" strike="noStrike">
                <a:solidFill>
                  <a:srgbClr val="002d4e"/>
                </a:solidFill>
                <a:latin typeface="Aptos"/>
                <a:ea typeface="Calibri"/>
              </a:rPr>
              <a:t>는 현재 장애와 최근 해결된 장애를 구분합니다</a:t>
            </a:r>
            <a:endParaRPr b="0" lang="en-US" sz="24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9" name="TextBox 5"/>
          <p:cNvSpPr/>
          <p:nvPr/>
        </p:nvSpPr>
        <p:spPr>
          <a:xfrm>
            <a:off x="685800" y="1078920"/>
            <a:ext cx="10788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526273"/>
                </a:solidFill>
                <a:latin typeface="Aptos"/>
                <a:ea typeface="Calibri"/>
              </a:rPr>
              <a:t>장애가 지속되는 동안 </a:t>
            </a:r>
            <a:r>
              <a:rPr b="0" lang="en-US" sz="1300" spc="-1" strike="noStrike">
                <a:solidFill>
                  <a:srgbClr val="526273"/>
                </a:solidFill>
                <a:latin typeface="Aptos"/>
                <a:ea typeface="Calibri"/>
              </a:rPr>
              <a:t>active</a:t>
            </a:r>
            <a:r>
              <a:rPr b="0" lang="ko-KR" sz="1300" spc="-1" strike="noStrike">
                <a:solidFill>
                  <a:srgbClr val="526273"/>
                </a:solidFill>
                <a:latin typeface="Aptos"/>
                <a:ea typeface="Calibri"/>
              </a:rPr>
              <a:t>로 표시하고</a:t>
            </a:r>
            <a:r>
              <a:rPr b="0" lang="en-US" sz="1300" spc="-1" strike="noStrike">
                <a:solidFill>
                  <a:srgbClr val="526273"/>
                </a:solidFill>
                <a:latin typeface="Aptos"/>
                <a:ea typeface="Calibri"/>
              </a:rPr>
              <a:t>, </a:t>
            </a:r>
            <a:r>
              <a:rPr b="0" lang="ko-KR" sz="1300" spc="-1" strike="noStrike">
                <a:solidFill>
                  <a:srgbClr val="526273"/>
                </a:solidFill>
                <a:latin typeface="Aptos"/>
                <a:ea typeface="Calibri"/>
              </a:rPr>
              <a:t>해결된 </a:t>
            </a:r>
            <a:r>
              <a:rPr b="0" lang="en-US" sz="1300" spc="-1" strike="noStrike">
                <a:solidFill>
                  <a:srgbClr val="526273"/>
                </a:solidFill>
                <a:latin typeface="Aptos"/>
                <a:ea typeface="Calibri"/>
              </a:rPr>
              <a:t>Alert</a:t>
            </a:r>
            <a:r>
              <a:rPr b="0" lang="ko-KR" sz="1300" spc="-1" strike="noStrike">
                <a:solidFill>
                  <a:srgbClr val="526273"/>
                </a:solidFill>
                <a:latin typeface="Aptos"/>
                <a:ea typeface="Calibri"/>
              </a:rPr>
              <a:t>는 </a:t>
            </a:r>
            <a:r>
              <a:rPr b="0" lang="en-US" sz="1300" spc="-1" strike="noStrike">
                <a:solidFill>
                  <a:srgbClr val="526273"/>
                </a:solidFill>
                <a:latin typeface="Aptos"/>
                <a:ea typeface="Calibri"/>
              </a:rPr>
              <a:t>60</a:t>
            </a:r>
            <a:r>
              <a:rPr b="0" lang="ko-KR" sz="1300" spc="-1" strike="noStrike">
                <a:solidFill>
                  <a:srgbClr val="526273"/>
                </a:solidFill>
                <a:latin typeface="Aptos"/>
                <a:ea typeface="Calibri"/>
              </a:rPr>
              <a:t>초간 </a:t>
            </a:r>
            <a:r>
              <a:rPr b="0" lang="en-US" sz="1300" spc="-1" strike="noStrike">
                <a:solidFill>
                  <a:srgbClr val="526273"/>
                </a:solidFill>
                <a:latin typeface="Aptos"/>
                <a:ea typeface="Calibri"/>
              </a:rPr>
              <a:t>resolved</a:t>
            </a:r>
            <a:r>
              <a:rPr b="0" lang="ko-KR" sz="1300" spc="-1" strike="noStrike">
                <a:solidFill>
                  <a:srgbClr val="526273"/>
                </a:solidFill>
                <a:latin typeface="Aptos"/>
                <a:ea typeface="Calibri"/>
              </a:rPr>
              <a:t>로 남겨 원인 확인 시간을 확보합니다</a:t>
            </a:r>
            <a:r>
              <a:rPr b="0" lang="en-US" sz="1300" spc="-1" strike="noStrike">
                <a:solidFill>
                  <a:srgbClr val="526273"/>
                </a:solidFill>
                <a:latin typeface="Aptos"/>
                <a:ea typeface="Calibri"/>
              </a:rPr>
              <a:t>.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0" name="Rectangle 7"/>
          <p:cNvSpPr/>
          <p:nvPr/>
        </p:nvSpPr>
        <p:spPr>
          <a:xfrm>
            <a:off x="713160" y="1800000"/>
            <a:ext cx="62280" cy="1078560"/>
          </a:xfrm>
          <a:prstGeom prst="rect">
            <a:avLst/>
          </a:prstGeom>
          <a:solidFill>
            <a:srgbClr val="f4b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71" name="TextBox 8"/>
          <p:cNvSpPr/>
          <p:nvPr/>
        </p:nvSpPr>
        <p:spPr>
          <a:xfrm>
            <a:off x="941760" y="1901880"/>
            <a:ext cx="3838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ko-KR" sz="1450" spc="-1" strike="noStrike">
                <a:solidFill>
                  <a:srgbClr val="00233e"/>
                </a:solidFill>
                <a:latin typeface="Aptos"/>
                <a:ea typeface="Calibri"/>
              </a:rPr>
              <a:t>현재 </a:t>
            </a:r>
            <a:r>
              <a:rPr b="1" lang="en-US" sz="1450" spc="-1" strike="noStrike">
                <a:solidFill>
                  <a:srgbClr val="00233e"/>
                </a:solidFill>
                <a:latin typeface="Aptos"/>
                <a:ea typeface="Calibri"/>
              </a:rPr>
              <a:t>Alert</a:t>
            </a:r>
            <a:endParaRPr b="0" lang="en-US" sz="14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2" name="TextBox 9"/>
          <p:cNvSpPr/>
          <p:nvPr/>
        </p:nvSpPr>
        <p:spPr>
          <a:xfrm>
            <a:off x="941760" y="2340720"/>
            <a:ext cx="38386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ko-KR" sz="1080" spc="-1" strike="noStrike">
                <a:solidFill>
                  <a:srgbClr val="4c6177"/>
                </a:solidFill>
                <a:latin typeface="Aptos"/>
                <a:ea typeface="Calibri"/>
              </a:rPr>
              <a:t>현재 장애가 남아 있는 항목입니다</a:t>
            </a:r>
            <a:r>
              <a:rPr b="0" lang="en-US" sz="1080" spc="-1" strike="noStrike">
                <a:solidFill>
                  <a:srgbClr val="4c6177"/>
                </a:solidFill>
                <a:latin typeface="Aptos"/>
                <a:ea typeface="Calibri"/>
              </a:rPr>
              <a:t>.</a:t>
            </a:r>
            <a:endParaRPr b="0" lang="en-US" sz="108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</a:pPr>
            <a:r>
              <a:rPr b="0" lang="en-US" sz="1080" spc="-1" strike="noStrike">
                <a:solidFill>
                  <a:srgbClr val="4c6177"/>
                </a:solidFill>
                <a:latin typeface="Aptos"/>
                <a:ea typeface="Calibri"/>
              </a:rPr>
              <a:t>warning/error </a:t>
            </a:r>
            <a:r>
              <a:rPr b="0" lang="ko-KR" sz="1080" spc="-1" strike="noStrike">
                <a:solidFill>
                  <a:srgbClr val="4c6177"/>
                </a:solidFill>
                <a:latin typeface="Aptos"/>
                <a:ea typeface="Calibri"/>
              </a:rPr>
              <a:t>집계에 포함되며 즉시 확인해야 합니다</a:t>
            </a:r>
            <a:r>
              <a:rPr b="0" lang="en-US" sz="1080" spc="-1" strike="noStrike">
                <a:solidFill>
                  <a:srgbClr val="4c6177"/>
                </a:solidFill>
                <a:latin typeface="Aptos"/>
                <a:ea typeface="Calibri"/>
              </a:rPr>
              <a:t>.</a:t>
            </a:r>
            <a:endParaRPr b="0" lang="en-US" sz="10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3" name="Rectangle 11"/>
          <p:cNvSpPr/>
          <p:nvPr/>
        </p:nvSpPr>
        <p:spPr>
          <a:xfrm>
            <a:off x="713160" y="3182400"/>
            <a:ext cx="62280" cy="1061640"/>
          </a:xfrm>
          <a:prstGeom prst="rect">
            <a:avLst/>
          </a:prstGeom>
          <a:solidFill>
            <a:srgbClr val="009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74" name="TextBox 12"/>
          <p:cNvSpPr/>
          <p:nvPr/>
        </p:nvSpPr>
        <p:spPr>
          <a:xfrm>
            <a:off x="839880" y="3240000"/>
            <a:ext cx="3838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ko-KR" sz="1450" spc="-1" strike="noStrike">
                <a:solidFill>
                  <a:srgbClr val="00233e"/>
                </a:solidFill>
                <a:latin typeface="Aptos"/>
                <a:ea typeface="Calibri"/>
              </a:rPr>
              <a:t>이전 </a:t>
            </a:r>
            <a:r>
              <a:rPr b="1" lang="en-US" sz="1450" spc="-1" strike="noStrike">
                <a:solidFill>
                  <a:srgbClr val="00233e"/>
                </a:solidFill>
                <a:latin typeface="Aptos"/>
                <a:ea typeface="Calibri"/>
              </a:rPr>
              <a:t>Alert</a:t>
            </a:r>
            <a:endParaRPr b="0" lang="en-US" sz="14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5" name="TextBox 13"/>
          <p:cNvSpPr/>
          <p:nvPr/>
        </p:nvSpPr>
        <p:spPr>
          <a:xfrm>
            <a:off x="900000" y="3721320"/>
            <a:ext cx="38386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ko-KR" sz="1080" spc="-1" strike="noStrike">
                <a:solidFill>
                  <a:srgbClr val="4c6177"/>
                </a:solidFill>
                <a:latin typeface="Aptos"/>
                <a:ea typeface="Calibri"/>
              </a:rPr>
              <a:t>이미 해결된 항목입니다</a:t>
            </a:r>
            <a:r>
              <a:rPr b="0" lang="en-US" sz="1080" spc="-1" strike="noStrike">
                <a:solidFill>
                  <a:srgbClr val="4c6177"/>
                </a:solidFill>
                <a:latin typeface="Aptos"/>
                <a:ea typeface="Calibri"/>
              </a:rPr>
              <a:t>.</a:t>
            </a:r>
            <a:endParaRPr b="0" lang="en-US" sz="108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</a:pPr>
            <a:r>
              <a:rPr b="0" lang="ko-KR" sz="1080" spc="-1" strike="noStrike">
                <a:solidFill>
                  <a:srgbClr val="4c6177"/>
                </a:solidFill>
                <a:latin typeface="Aptos"/>
                <a:ea typeface="Calibri"/>
              </a:rPr>
              <a:t>현재 장애 집계에서는 제외하고 </a:t>
            </a:r>
            <a:r>
              <a:rPr b="0" lang="en-US" sz="1080" spc="-1" strike="noStrike">
                <a:solidFill>
                  <a:srgbClr val="4c6177"/>
                </a:solidFill>
                <a:latin typeface="Aptos"/>
                <a:ea typeface="Calibri"/>
              </a:rPr>
              <a:t>60</a:t>
            </a:r>
            <a:r>
              <a:rPr b="0" lang="ko-KR" sz="1080" spc="-1" strike="noStrike">
                <a:solidFill>
                  <a:srgbClr val="4c6177"/>
                </a:solidFill>
                <a:latin typeface="Aptos"/>
                <a:ea typeface="Calibri"/>
              </a:rPr>
              <a:t>초 동안만 남깁니다</a:t>
            </a:r>
            <a:r>
              <a:rPr b="0" lang="en-US" sz="1080" spc="-1" strike="noStrike">
                <a:solidFill>
                  <a:srgbClr val="4c6177"/>
                </a:solidFill>
                <a:latin typeface="Aptos"/>
                <a:ea typeface="Calibri"/>
              </a:rPr>
              <a:t>.</a:t>
            </a:r>
            <a:endParaRPr b="0" lang="en-US" sz="10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6" name="Rectangle 15"/>
          <p:cNvSpPr/>
          <p:nvPr/>
        </p:nvSpPr>
        <p:spPr>
          <a:xfrm>
            <a:off x="713160" y="4680000"/>
            <a:ext cx="62280" cy="1258560"/>
          </a:xfrm>
          <a:prstGeom prst="rect">
            <a:avLst/>
          </a:prstGeom>
          <a:solidFill>
            <a:srgbClr val="00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77" name="TextBox 16"/>
          <p:cNvSpPr/>
          <p:nvPr/>
        </p:nvSpPr>
        <p:spPr>
          <a:xfrm>
            <a:off x="900000" y="4860000"/>
            <a:ext cx="3838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ko-KR" sz="1450" spc="-1" strike="noStrike">
                <a:solidFill>
                  <a:srgbClr val="00233e"/>
                </a:solidFill>
                <a:latin typeface="Aptos"/>
                <a:ea typeface="Calibri"/>
              </a:rPr>
              <a:t>정책 요약</a:t>
            </a:r>
            <a:endParaRPr b="0" lang="en-US" sz="14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8" name="TextBox 17"/>
          <p:cNvSpPr/>
          <p:nvPr/>
        </p:nvSpPr>
        <p:spPr>
          <a:xfrm>
            <a:off x="1019880" y="5190840"/>
            <a:ext cx="3838680" cy="5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4c6177"/>
                </a:solidFill>
                <a:latin typeface="Aptos"/>
                <a:ea typeface="Calibri"/>
              </a:rPr>
              <a:t>active</a:t>
            </a:r>
            <a:r>
              <a:rPr b="0" lang="ko-KR" sz="1050" spc="-1" strike="noStrike">
                <a:solidFill>
                  <a:srgbClr val="4c6177"/>
                </a:solidFill>
                <a:latin typeface="Aptos"/>
                <a:ea typeface="Calibri"/>
              </a:rPr>
              <a:t>는 장애가 지속되는 동안 유지</a:t>
            </a: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4c6177"/>
                </a:solidFill>
                <a:latin typeface="Aptos"/>
                <a:ea typeface="Calibri"/>
              </a:rPr>
              <a:t>resolved</a:t>
            </a:r>
            <a:r>
              <a:rPr b="0" lang="ko-KR" sz="1050" spc="-1" strike="noStrike">
                <a:solidFill>
                  <a:srgbClr val="4c6177"/>
                </a:solidFill>
                <a:latin typeface="Aptos"/>
                <a:ea typeface="Calibri"/>
              </a:rPr>
              <a:t>는 </a:t>
            </a:r>
            <a:r>
              <a:rPr b="0" lang="en-US" sz="1050" spc="-1" strike="noStrike">
                <a:solidFill>
                  <a:srgbClr val="4c6177"/>
                </a:solidFill>
                <a:latin typeface="Aptos"/>
                <a:ea typeface="Calibri"/>
              </a:rPr>
              <a:t>60</a:t>
            </a:r>
            <a:r>
              <a:rPr b="0" lang="ko-KR" sz="1050" spc="-1" strike="noStrike">
                <a:solidFill>
                  <a:srgbClr val="4c6177"/>
                </a:solidFill>
                <a:latin typeface="Aptos"/>
                <a:ea typeface="Calibri"/>
              </a:rPr>
              <a:t>초 동안 보관</a:t>
            </a: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</a:pPr>
            <a:r>
              <a:rPr b="0" lang="ko-KR" sz="1050" spc="-1" strike="noStrike">
                <a:solidFill>
                  <a:srgbClr val="4c6177"/>
                </a:solidFill>
                <a:latin typeface="Aptos"/>
                <a:ea typeface="Calibri"/>
              </a:rPr>
              <a:t>재발 시 기존 </a:t>
            </a:r>
            <a:r>
              <a:rPr b="0" lang="en-US" sz="1050" spc="-1" strike="noStrike">
                <a:solidFill>
                  <a:srgbClr val="4c6177"/>
                </a:solidFill>
                <a:latin typeface="Aptos"/>
                <a:ea typeface="Calibri"/>
              </a:rPr>
              <a:t>Alert</a:t>
            </a:r>
            <a:r>
              <a:rPr b="0" lang="ko-KR" sz="1050" spc="-1" strike="noStrike">
                <a:solidFill>
                  <a:srgbClr val="4c6177"/>
                </a:solidFill>
                <a:latin typeface="Aptos"/>
                <a:ea typeface="Calibri"/>
              </a:rPr>
              <a:t>를 </a:t>
            </a:r>
            <a:r>
              <a:rPr b="0" lang="en-US" sz="1050" spc="-1" strike="noStrike">
                <a:solidFill>
                  <a:srgbClr val="4c6177"/>
                </a:solidFill>
                <a:latin typeface="Aptos"/>
                <a:ea typeface="Calibri"/>
              </a:rPr>
              <a:t>active</a:t>
            </a:r>
            <a:r>
              <a:rPr b="0" lang="ko-KR" sz="1050" spc="-1" strike="noStrike">
                <a:solidFill>
                  <a:srgbClr val="4c6177"/>
                </a:solidFill>
                <a:latin typeface="Aptos"/>
                <a:ea typeface="Calibri"/>
              </a:rPr>
              <a:t>로 전환</a:t>
            </a: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9" name="TextBox 18"/>
          <p:cNvSpPr/>
          <p:nvPr/>
        </p:nvSpPr>
        <p:spPr>
          <a:xfrm>
            <a:off x="5440680" y="1499760"/>
            <a:ext cx="29242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ko-KR" sz="1150" spc="-1" strike="noStrike">
                <a:solidFill>
                  <a:srgbClr val="002d4e"/>
                </a:solidFill>
                <a:latin typeface="Aptos"/>
                <a:ea typeface="Calibri"/>
              </a:rPr>
              <a:t>장애 발생 중</a:t>
            </a:r>
            <a:r>
              <a:rPr b="1" lang="en-US" sz="1150" spc="-1" strike="noStrike">
                <a:solidFill>
                  <a:srgbClr val="002d4e"/>
                </a:solidFill>
                <a:latin typeface="Aptos"/>
                <a:ea typeface="Calibri"/>
              </a:rPr>
              <a:t>: </a:t>
            </a:r>
            <a:r>
              <a:rPr b="1" lang="ko-KR" sz="1150" spc="-1" strike="noStrike">
                <a:solidFill>
                  <a:srgbClr val="002d4e"/>
                </a:solidFill>
                <a:latin typeface="Aptos"/>
                <a:ea typeface="Calibri"/>
              </a:rPr>
              <a:t>현재 </a:t>
            </a:r>
            <a:r>
              <a:rPr b="1" lang="en-US" sz="1150" spc="-1" strike="noStrike">
                <a:solidFill>
                  <a:srgbClr val="002d4e"/>
                </a:solidFill>
                <a:latin typeface="Aptos"/>
                <a:ea typeface="Calibri"/>
              </a:rPr>
              <a:t>Alert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80" name="Picture 19" descr="f9ce5687-c7cb-4d53-9f64-706c61919ae1.png"/>
          <p:cNvPicPr/>
          <p:nvPr/>
        </p:nvPicPr>
        <p:blipFill>
          <a:blip r:embed="rId1"/>
          <a:stretch/>
        </p:blipFill>
        <p:spPr>
          <a:xfrm>
            <a:off x="5440680" y="1764720"/>
            <a:ext cx="6033240" cy="2059920"/>
          </a:xfrm>
          <a:prstGeom prst="rect">
            <a:avLst/>
          </a:prstGeom>
          <a:ln w="0">
            <a:noFill/>
          </a:ln>
        </p:spPr>
      </p:pic>
      <p:sp>
        <p:nvSpPr>
          <p:cNvPr id="181" name="Rectangle 20"/>
          <p:cNvSpPr/>
          <p:nvPr/>
        </p:nvSpPr>
        <p:spPr>
          <a:xfrm>
            <a:off x="5440680" y="1764720"/>
            <a:ext cx="6033240" cy="2059920"/>
          </a:xfrm>
          <a:prstGeom prst="rect">
            <a:avLst/>
          </a:prstGeom>
          <a:noFill/>
          <a:ln>
            <a:solidFill>
              <a:srgbClr val="cddae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82" name="TextBox 21"/>
          <p:cNvSpPr/>
          <p:nvPr/>
        </p:nvSpPr>
        <p:spPr>
          <a:xfrm>
            <a:off x="5440680" y="3875040"/>
            <a:ext cx="29242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ko-KR" sz="1150" spc="-1" strike="noStrike">
                <a:solidFill>
                  <a:srgbClr val="002d4e"/>
                </a:solidFill>
                <a:latin typeface="Aptos"/>
                <a:ea typeface="Calibri"/>
              </a:rPr>
              <a:t>해결 후</a:t>
            </a:r>
            <a:r>
              <a:rPr b="1" lang="en-US" sz="1150" spc="-1" strike="noStrike">
                <a:solidFill>
                  <a:srgbClr val="002d4e"/>
                </a:solidFill>
                <a:latin typeface="Aptos"/>
                <a:ea typeface="Calibri"/>
              </a:rPr>
              <a:t>: </a:t>
            </a:r>
            <a:r>
              <a:rPr b="1" lang="ko-KR" sz="1150" spc="-1" strike="noStrike">
                <a:solidFill>
                  <a:srgbClr val="002d4e"/>
                </a:solidFill>
                <a:latin typeface="Aptos"/>
                <a:ea typeface="Calibri"/>
              </a:rPr>
              <a:t>이전 </a:t>
            </a:r>
            <a:r>
              <a:rPr b="1" lang="en-US" sz="1150" spc="-1" strike="noStrike">
                <a:solidFill>
                  <a:srgbClr val="002d4e"/>
                </a:solidFill>
                <a:latin typeface="Aptos"/>
                <a:ea typeface="Calibri"/>
              </a:rPr>
              <a:t>Alert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83" name="Picture 22" descr="b96b9ba0-d3ea-4188-9e0f-1f3b5e065d65.png"/>
          <p:cNvPicPr/>
          <p:nvPr/>
        </p:nvPicPr>
        <p:blipFill>
          <a:blip r:embed="rId2"/>
          <a:stretch/>
        </p:blipFill>
        <p:spPr>
          <a:xfrm>
            <a:off x="5440680" y="4238640"/>
            <a:ext cx="6033240" cy="2059920"/>
          </a:xfrm>
          <a:prstGeom prst="rect">
            <a:avLst/>
          </a:prstGeom>
          <a:ln w="0">
            <a:noFill/>
          </a:ln>
        </p:spPr>
      </p:pic>
      <p:sp>
        <p:nvSpPr>
          <p:cNvPr id="184" name="Rectangle 23"/>
          <p:cNvSpPr/>
          <p:nvPr/>
        </p:nvSpPr>
        <p:spPr>
          <a:xfrm>
            <a:off x="5440680" y="4238640"/>
            <a:ext cx="6033240" cy="2059920"/>
          </a:xfrm>
          <a:prstGeom prst="rect">
            <a:avLst/>
          </a:prstGeom>
          <a:noFill/>
          <a:ln>
            <a:solidFill>
              <a:srgbClr val="cddae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85" name="Rectangle 24"/>
          <p:cNvSpPr/>
          <p:nvPr/>
        </p:nvSpPr>
        <p:spPr>
          <a:xfrm>
            <a:off x="621720" y="6437520"/>
            <a:ext cx="10971000" cy="7200"/>
          </a:xfrm>
          <a:prstGeom prst="rect">
            <a:avLst/>
          </a:prstGeom>
          <a:solidFill>
            <a:srgbClr val="cd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86" name="TextBox 25"/>
          <p:cNvSpPr/>
          <p:nvPr/>
        </p:nvSpPr>
        <p:spPr>
          <a:xfrm>
            <a:off x="685800" y="6473880"/>
            <a:ext cx="850212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ko-KR" sz="650" spc="-1" strike="noStrike">
                <a:solidFill>
                  <a:srgbClr val="646f7a"/>
                </a:solidFill>
                <a:latin typeface="Aptos"/>
                <a:ea typeface="Calibri"/>
              </a:rPr>
              <a:t>실제 화면</a:t>
            </a:r>
            <a:r>
              <a:rPr b="0" lang="en-US" sz="650" spc="-1" strike="noStrike">
                <a:solidFill>
                  <a:srgbClr val="646f7a"/>
                </a:solidFill>
                <a:latin typeface="Aptos"/>
                <a:ea typeface="Calibri"/>
              </a:rPr>
              <a:t>: Alerts · </a:t>
            </a:r>
            <a:r>
              <a:rPr b="0" lang="ko-KR" sz="650" spc="-1" strike="noStrike">
                <a:solidFill>
                  <a:srgbClr val="646f7a"/>
                </a:solidFill>
                <a:latin typeface="Aptos"/>
                <a:ea typeface="Calibri"/>
              </a:rPr>
              <a:t>현재 </a:t>
            </a:r>
            <a:r>
              <a:rPr b="0" lang="en-US" sz="650" spc="-1" strike="noStrike">
                <a:solidFill>
                  <a:srgbClr val="646f7a"/>
                </a:solidFill>
                <a:latin typeface="Aptos"/>
                <a:ea typeface="Calibri"/>
              </a:rPr>
              <a:t>Alert / </a:t>
            </a:r>
            <a:r>
              <a:rPr b="0" lang="ko-KR" sz="650" spc="-1" strike="noStrike">
                <a:solidFill>
                  <a:srgbClr val="646f7a"/>
                </a:solidFill>
                <a:latin typeface="Aptos"/>
                <a:ea typeface="Calibri"/>
              </a:rPr>
              <a:t>이전 </a:t>
            </a:r>
            <a:r>
              <a:rPr b="0" lang="en-US" sz="650" spc="-1" strike="noStrike">
                <a:solidFill>
                  <a:srgbClr val="646f7a"/>
                </a:solidFill>
                <a:latin typeface="Aptos"/>
                <a:ea typeface="Calibri"/>
              </a:rPr>
              <a:t>Alert · active/resolved </a:t>
            </a:r>
            <a:r>
              <a:rPr b="0" lang="ko-KR" sz="650" spc="-1" strike="noStrike">
                <a:solidFill>
                  <a:srgbClr val="646f7a"/>
                </a:solidFill>
                <a:latin typeface="Aptos"/>
                <a:ea typeface="Calibri"/>
              </a:rPr>
              <a:t>구분</a:t>
            </a:r>
            <a:endParaRPr b="0" lang="en-US" sz="6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7" name="Rectangle 4"/>
          <p:cNvSpPr/>
          <p:nvPr/>
        </p:nvSpPr>
        <p:spPr>
          <a:xfrm>
            <a:off x="720000" y="1800000"/>
            <a:ext cx="3778560" cy="1078560"/>
          </a:xfrm>
          <a:prstGeom prst="rect">
            <a:avLst/>
          </a:prstGeom>
          <a:noFill/>
          <a:ln>
            <a:solidFill>
              <a:srgbClr val="cddae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88" name="Rectangle 13"/>
          <p:cNvSpPr/>
          <p:nvPr/>
        </p:nvSpPr>
        <p:spPr>
          <a:xfrm>
            <a:off x="720000" y="3182400"/>
            <a:ext cx="3778560" cy="1078560"/>
          </a:xfrm>
          <a:prstGeom prst="rect">
            <a:avLst/>
          </a:prstGeom>
          <a:noFill/>
          <a:ln>
            <a:solidFill>
              <a:srgbClr val="cddae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89" name="Rectangle 16"/>
          <p:cNvSpPr/>
          <p:nvPr/>
        </p:nvSpPr>
        <p:spPr>
          <a:xfrm>
            <a:off x="713160" y="4680000"/>
            <a:ext cx="3778560" cy="1258560"/>
          </a:xfrm>
          <a:prstGeom prst="rect">
            <a:avLst/>
          </a:prstGeom>
          <a:noFill/>
          <a:ln>
            <a:solidFill>
              <a:srgbClr val="cddae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0" y="0"/>
            <a:ext cx="12188520" cy="69480"/>
          </a:xfrm>
          <a:prstGeom prst="rect">
            <a:avLst/>
          </a:prstGeom>
          <a:solidFill>
            <a:srgbClr val="00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821160" y="146160"/>
            <a:ext cx="787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07bbe"/>
                </a:solidFill>
                <a:latin typeface="Calibri"/>
                <a:ea typeface="Calibri"/>
              </a:rPr>
              <a:t>MONITORING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2" name="TextBox 3"/>
          <p:cNvSpPr/>
          <p:nvPr/>
        </p:nvSpPr>
        <p:spPr>
          <a:xfrm>
            <a:off x="11277720" y="146160"/>
            <a:ext cx="3002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800" spc="-1" strike="noStrike">
                <a:solidFill>
                  <a:srgbClr val="6b7c8f"/>
                </a:solidFill>
                <a:latin typeface="Malgun Gothic"/>
                <a:ea typeface="Calibri"/>
              </a:rPr>
              <a:t>07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3" name="TextBox 4"/>
          <p:cNvSpPr/>
          <p:nvPr/>
        </p:nvSpPr>
        <p:spPr>
          <a:xfrm>
            <a:off x="2910600" y="384120"/>
            <a:ext cx="62100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Topic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은 </a:t>
            </a: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latest · Hz · stale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을 실시간으로 확인합니다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4" name="TextBox 5"/>
          <p:cNvSpPr/>
          <p:nvPr/>
        </p:nvSpPr>
        <p:spPr>
          <a:xfrm>
            <a:off x="3434760" y="822960"/>
            <a:ext cx="48326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Backend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가 지원 타입을 자동 구독하고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, 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수신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callback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으로 최신값과 수신 속도를 갱신합니다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.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95" name="Picture 7" descr="topic.png"/>
          <p:cNvPicPr/>
          <p:nvPr/>
        </p:nvPicPr>
        <p:blipFill>
          <a:blip r:embed="rId1"/>
          <a:srcRect l="330" t="1035" r="0" b="1853"/>
          <a:stretch/>
        </p:blipFill>
        <p:spPr>
          <a:xfrm>
            <a:off x="536040" y="1620000"/>
            <a:ext cx="11160720" cy="3596760"/>
          </a:xfrm>
          <a:prstGeom prst="rect">
            <a:avLst/>
          </a:prstGeom>
          <a:ln w="0">
            <a:noFill/>
          </a:ln>
        </p:spPr>
      </p:pic>
      <p:sp>
        <p:nvSpPr>
          <p:cNvPr id="196" name="Rounded Rectangle 9"/>
          <p:cNvSpPr/>
          <p:nvPr/>
        </p:nvSpPr>
        <p:spPr>
          <a:xfrm>
            <a:off x="77724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0094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9488"/>
                </a:solidFill>
                <a:latin typeface="Calibri"/>
                <a:ea typeface="Calibri"/>
              </a:rPr>
              <a:t>Publisher / Subscriber </a:t>
            </a:r>
            <a:r>
              <a:rPr b="1" lang="ko-KR" sz="850" spc="-1" strike="noStrike">
                <a:solidFill>
                  <a:srgbClr val="009488"/>
                </a:solidFill>
                <a:latin typeface="Calibri"/>
                <a:ea typeface="Calibri"/>
              </a:rPr>
              <a:t>수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7" name="Rounded Rectangle 10"/>
          <p:cNvSpPr/>
          <p:nvPr/>
        </p:nvSpPr>
        <p:spPr>
          <a:xfrm>
            <a:off x="436788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007bb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7bbe"/>
                </a:solidFill>
                <a:latin typeface="Calibri"/>
                <a:ea typeface="Calibri"/>
              </a:rPr>
              <a:t>Hz</a:t>
            </a:r>
            <a:r>
              <a:rPr b="1" lang="ko-KR" sz="850" spc="-1" strike="noStrike">
                <a:solidFill>
                  <a:srgbClr val="007bbe"/>
                </a:solidFill>
                <a:latin typeface="Calibri"/>
                <a:ea typeface="Calibri"/>
              </a:rPr>
              <a:t>와 최신 데이터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8" name="Rounded Rectangle 11"/>
          <p:cNvSpPr/>
          <p:nvPr/>
        </p:nvSpPr>
        <p:spPr>
          <a:xfrm>
            <a:off x="795816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f0aa3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발행자 대기 </a:t>
            </a:r>
            <a:r>
              <a:rPr b="1" lang="en-US" sz="850" spc="-1" strike="noStrike">
                <a:solidFill>
                  <a:srgbClr val="f0aa3c"/>
                </a:solidFill>
                <a:latin typeface="Calibri"/>
                <a:ea typeface="Calibri"/>
              </a:rPr>
              <a:t>· </a:t>
            </a: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미수신 상태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9" name="TextBox 12"/>
          <p:cNvSpPr/>
          <p:nvPr/>
        </p:nvSpPr>
        <p:spPr>
          <a:xfrm>
            <a:off x="457200" y="6565320"/>
            <a:ext cx="112435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실제 화면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: Topics table / Hz / latest preview /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상세 패널</a:t>
            </a:r>
            <a:endParaRPr b="0" lang="en-US" sz="62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"/>
          <p:cNvSpPr/>
          <p:nvPr/>
        </p:nvSpPr>
        <p:spPr>
          <a:xfrm>
            <a:off x="0" y="0"/>
            <a:ext cx="12188520" cy="69480"/>
          </a:xfrm>
          <a:prstGeom prst="rect">
            <a:avLst/>
          </a:prstGeom>
          <a:solidFill>
            <a:srgbClr val="00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01" name="TextBox 2"/>
          <p:cNvSpPr/>
          <p:nvPr/>
        </p:nvSpPr>
        <p:spPr>
          <a:xfrm>
            <a:off x="821160" y="146160"/>
            <a:ext cx="787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07bbe"/>
                </a:solidFill>
                <a:latin typeface="Calibri"/>
                <a:ea typeface="Calibri"/>
              </a:rPr>
              <a:t>MONITORING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2" name="TextBox 3"/>
          <p:cNvSpPr/>
          <p:nvPr/>
        </p:nvSpPr>
        <p:spPr>
          <a:xfrm>
            <a:off x="11277720" y="146160"/>
            <a:ext cx="3002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800" spc="-1" strike="noStrike">
                <a:solidFill>
                  <a:srgbClr val="6b7c8f"/>
                </a:solidFill>
                <a:latin typeface="Malgun Gothic"/>
                <a:ea typeface="Calibri"/>
              </a:rPr>
              <a:t>08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3" name="TextBox 4"/>
          <p:cNvSpPr/>
          <p:nvPr/>
        </p:nvSpPr>
        <p:spPr>
          <a:xfrm>
            <a:off x="2734560" y="384120"/>
            <a:ext cx="65620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Service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는 목록 수집과 실제 호출 가능 여부를 분리합니다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4" name="TextBox 5"/>
          <p:cNvSpPr/>
          <p:nvPr/>
        </p:nvSpPr>
        <p:spPr>
          <a:xfrm>
            <a:off x="3584880" y="822960"/>
            <a:ext cx="45324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Service 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목록은 자동 관찰하고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, 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안전한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allowlist 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대상만 응답 시간과 결과를 측정합니다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.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05" name="Picture 7" descr="service.png"/>
          <p:cNvPicPr/>
          <p:nvPr/>
        </p:nvPicPr>
        <p:blipFill>
          <a:blip r:embed="rId1"/>
          <a:stretch/>
        </p:blipFill>
        <p:spPr>
          <a:xfrm>
            <a:off x="502920" y="2175480"/>
            <a:ext cx="11197800" cy="2512440"/>
          </a:xfrm>
          <a:prstGeom prst="rect">
            <a:avLst/>
          </a:prstGeom>
          <a:ln w="0">
            <a:noFill/>
          </a:ln>
        </p:spPr>
      </p:pic>
      <p:sp>
        <p:nvSpPr>
          <p:cNvPr id="206" name="Rounded Rectangle 9"/>
          <p:cNvSpPr/>
          <p:nvPr/>
        </p:nvSpPr>
        <p:spPr>
          <a:xfrm>
            <a:off x="77724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0094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9488"/>
                </a:solidFill>
                <a:latin typeface="Calibri"/>
                <a:ea typeface="Calibri"/>
              </a:rPr>
              <a:t>Server / Client </a:t>
            </a:r>
            <a:r>
              <a:rPr b="1" lang="ko-KR" sz="850" spc="-1" strike="noStrike">
                <a:solidFill>
                  <a:srgbClr val="009488"/>
                </a:solidFill>
                <a:latin typeface="Calibri"/>
                <a:ea typeface="Calibri"/>
              </a:rPr>
              <a:t>관계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7" name="Rounded Rectangle 10"/>
          <p:cNvSpPr/>
          <p:nvPr/>
        </p:nvSpPr>
        <p:spPr>
          <a:xfrm>
            <a:off x="436788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007bb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50" spc="-1" strike="noStrike">
                <a:solidFill>
                  <a:srgbClr val="007bbe"/>
                </a:solidFill>
                <a:latin typeface="Calibri"/>
                <a:ea typeface="Calibri"/>
              </a:rPr>
              <a:t>호출 가능 여부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8" name="Rounded Rectangle 11"/>
          <p:cNvSpPr/>
          <p:nvPr/>
        </p:nvSpPr>
        <p:spPr>
          <a:xfrm>
            <a:off x="795816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f0aa3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마지막 요청</a:t>
            </a:r>
            <a:r>
              <a:rPr b="1" lang="en-US" sz="850" spc="-1" strike="noStrike">
                <a:solidFill>
                  <a:srgbClr val="f0aa3c"/>
                </a:solidFill>
                <a:latin typeface="Calibri"/>
                <a:ea typeface="Calibri"/>
              </a:rPr>
              <a:t>·</a:t>
            </a: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응답과 응답 시간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9" name="TextBox 12"/>
          <p:cNvSpPr/>
          <p:nvPr/>
        </p:nvSpPr>
        <p:spPr>
          <a:xfrm>
            <a:off x="457200" y="6565320"/>
            <a:ext cx="112435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실제 화면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: Services table /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응답 측정 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/ Service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상세</a:t>
            </a:r>
            <a:endParaRPr b="0" lang="en-US" sz="62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1"/>
          <p:cNvSpPr/>
          <p:nvPr/>
        </p:nvSpPr>
        <p:spPr>
          <a:xfrm>
            <a:off x="0" y="0"/>
            <a:ext cx="12188520" cy="69480"/>
          </a:xfrm>
          <a:prstGeom prst="rect">
            <a:avLst/>
          </a:prstGeom>
          <a:solidFill>
            <a:srgbClr val="00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11" name="TextBox 2"/>
          <p:cNvSpPr/>
          <p:nvPr/>
        </p:nvSpPr>
        <p:spPr>
          <a:xfrm>
            <a:off x="821160" y="146160"/>
            <a:ext cx="787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07bbe"/>
                </a:solidFill>
                <a:latin typeface="Calibri"/>
                <a:ea typeface="Calibri"/>
              </a:rPr>
              <a:t>MONITORING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2" name="TextBox 3"/>
          <p:cNvSpPr/>
          <p:nvPr/>
        </p:nvSpPr>
        <p:spPr>
          <a:xfrm>
            <a:off x="11277720" y="146160"/>
            <a:ext cx="3002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800" spc="-1" strike="noStrike">
                <a:solidFill>
                  <a:srgbClr val="6b7c8f"/>
                </a:solidFill>
                <a:latin typeface="Malgun Gothic"/>
                <a:ea typeface="Calibri"/>
              </a:rPr>
              <a:t>09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3" name="TextBox 4"/>
          <p:cNvSpPr/>
          <p:nvPr/>
        </p:nvSpPr>
        <p:spPr>
          <a:xfrm>
            <a:off x="2718000" y="384120"/>
            <a:ext cx="6595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Action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은 </a:t>
            </a: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Goal · Feedback · Result 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상태를 관찰합니다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4" name="TextBox 5"/>
          <p:cNvSpPr/>
          <p:nvPr/>
        </p:nvSpPr>
        <p:spPr>
          <a:xfrm>
            <a:off x="3514680" y="822960"/>
            <a:ext cx="46728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모니터링은 새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Goal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을 만들지 않고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, 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관찰된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Goal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의 진행과 종료 상태를 화면에 보여줍니다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.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15" name="Picture 7" descr="action.png"/>
          <p:cNvPicPr/>
          <p:nvPr/>
        </p:nvPicPr>
        <p:blipFill>
          <a:blip r:embed="rId1"/>
          <a:stretch/>
        </p:blipFill>
        <p:spPr>
          <a:xfrm>
            <a:off x="502920" y="1355040"/>
            <a:ext cx="11197800" cy="4153320"/>
          </a:xfrm>
          <a:prstGeom prst="rect">
            <a:avLst/>
          </a:prstGeom>
          <a:ln w="0">
            <a:noFill/>
          </a:ln>
        </p:spPr>
      </p:pic>
      <p:sp>
        <p:nvSpPr>
          <p:cNvPr id="216" name="Rounded Rectangle 9"/>
          <p:cNvSpPr/>
          <p:nvPr/>
        </p:nvSpPr>
        <p:spPr>
          <a:xfrm>
            <a:off x="77724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0094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9488"/>
                </a:solidFill>
                <a:latin typeface="Calibri"/>
                <a:ea typeface="Calibri"/>
              </a:rPr>
              <a:t>Goal </a:t>
            </a:r>
            <a:r>
              <a:rPr b="1" lang="ko-KR" sz="850" spc="-1" strike="noStrike">
                <a:solidFill>
                  <a:srgbClr val="009488"/>
                </a:solidFill>
                <a:latin typeface="Calibri"/>
                <a:ea typeface="Calibri"/>
              </a:rPr>
              <a:t>상태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7" name="Rounded Rectangle 10"/>
          <p:cNvSpPr/>
          <p:nvPr/>
        </p:nvSpPr>
        <p:spPr>
          <a:xfrm>
            <a:off x="436788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007bb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7bbe"/>
                </a:solidFill>
                <a:latin typeface="Calibri"/>
                <a:ea typeface="Calibri"/>
              </a:rPr>
              <a:t>Feedback </a:t>
            </a:r>
            <a:r>
              <a:rPr b="1" lang="ko-KR" sz="850" spc="-1" strike="noStrike">
                <a:solidFill>
                  <a:srgbClr val="007bbe"/>
                </a:solidFill>
                <a:latin typeface="Calibri"/>
                <a:ea typeface="Calibri"/>
              </a:rPr>
              <a:t>수신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8" name="Rounded Rectangle 11"/>
          <p:cNvSpPr/>
          <p:nvPr/>
        </p:nvSpPr>
        <p:spPr>
          <a:xfrm>
            <a:off x="795816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f0aa3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0aa3c"/>
                </a:solidFill>
                <a:latin typeface="Calibri"/>
                <a:ea typeface="Calibri"/>
              </a:rPr>
              <a:t>Result</a:t>
            </a: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와 실행 시간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9" name="TextBox 12"/>
          <p:cNvSpPr/>
          <p:nvPr/>
        </p:nvSpPr>
        <p:spPr>
          <a:xfrm>
            <a:off x="457200" y="6565320"/>
            <a:ext cx="112435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실제 화면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: Actions table / Feedback / Result /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관찰 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Goal</a:t>
            </a:r>
            <a:endParaRPr b="0" lang="en-US" sz="62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1"/>
          <p:cNvSpPr/>
          <p:nvPr/>
        </p:nvSpPr>
        <p:spPr>
          <a:xfrm>
            <a:off x="0" y="0"/>
            <a:ext cx="12189600" cy="61560"/>
          </a:xfrm>
          <a:prstGeom prst="rect">
            <a:avLst/>
          </a:prstGeom>
          <a:solidFill>
            <a:srgbClr val="008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21" name="TextBox 2"/>
          <p:cNvSpPr/>
          <p:nvPr/>
        </p:nvSpPr>
        <p:spPr>
          <a:xfrm>
            <a:off x="685800" y="311040"/>
            <a:ext cx="118620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002b4a"/>
                </a:solidFill>
                <a:latin typeface="Aptos"/>
                <a:ea typeface="Calibri"/>
              </a:rPr>
              <a:t>MONITORING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2" name="TextBox 3"/>
          <p:cNvSpPr/>
          <p:nvPr/>
        </p:nvSpPr>
        <p:spPr>
          <a:xfrm>
            <a:off x="11475720" y="301680"/>
            <a:ext cx="3175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800" spc="-1" strike="noStrike">
                <a:solidFill>
                  <a:srgbClr val="6b7c8f"/>
                </a:solidFill>
                <a:latin typeface="Malgun Gothic"/>
                <a:ea typeface="Calibri"/>
              </a:rPr>
              <a:t>10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3" name="TextBox 4"/>
          <p:cNvSpPr/>
          <p:nvPr/>
        </p:nvSpPr>
        <p:spPr>
          <a:xfrm>
            <a:off x="685800" y="594360"/>
            <a:ext cx="1060452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002b4a"/>
                </a:solidFill>
                <a:latin typeface="Aptos"/>
                <a:ea typeface="Calibri"/>
              </a:rPr>
              <a:t>Node </a:t>
            </a:r>
            <a:r>
              <a:rPr b="1" lang="ko-KR" sz="2600" spc="-1" strike="noStrike">
                <a:solidFill>
                  <a:srgbClr val="002b4a"/>
                </a:solidFill>
                <a:latin typeface="Aptos"/>
                <a:ea typeface="Calibri"/>
              </a:rPr>
              <a:t>화면은 실행 단위의 통신 참여 관계를 보여줍니다</a:t>
            </a:r>
            <a:endParaRPr b="0" lang="en-US" sz="2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4" name="TextBox 5"/>
          <p:cNvSpPr/>
          <p:nvPr/>
        </p:nvSpPr>
        <p:spPr>
          <a:xfrm>
            <a:off x="685800" y="1051560"/>
            <a:ext cx="106959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475569"/>
                </a:solidFill>
                <a:latin typeface="Aptos"/>
                <a:ea typeface="Calibri"/>
              </a:rPr>
              <a:t>Node </a:t>
            </a:r>
            <a:r>
              <a:rPr b="0" lang="ko-KR" sz="1400" spc="-1" strike="noStrike">
                <a:solidFill>
                  <a:srgbClr val="475569"/>
                </a:solidFill>
                <a:latin typeface="Aptos"/>
                <a:ea typeface="Calibri"/>
              </a:rPr>
              <a:t>하나를 선택하면 발행</a:t>
            </a:r>
            <a:r>
              <a:rPr b="0" lang="en-US" sz="1400" spc="-1" strike="noStrike">
                <a:solidFill>
                  <a:srgbClr val="475569"/>
                </a:solidFill>
                <a:latin typeface="Aptos"/>
                <a:ea typeface="Calibri"/>
              </a:rPr>
              <a:t>·</a:t>
            </a:r>
            <a:r>
              <a:rPr b="0" lang="ko-KR" sz="1400" spc="-1" strike="noStrike">
                <a:solidFill>
                  <a:srgbClr val="475569"/>
                </a:solidFill>
                <a:latin typeface="Aptos"/>
                <a:ea typeface="Calibri"/>
              </a:rPr>
              <a:t>구독 </a:t>
            </a:r>
            <a:r>
              <a:rPr b="0" lang="en-US" sz="1400" spc="-1" strike="noStrike">
                <a:solidFill>
                  <a:srgbClr val="475569"/>
                </a:solidFill>
                <a:latin typeface="Aptos"/>
                <a:ea typeface="Calibri"/>
              </a:rPr>
              <a:t>Topic, </a:t>
            </a:r>
            <a:r>
              <a:rPr b="0" lang="ko-KR" sz="1400" spc="-1" strike="noStrike">
                <a:solidFill>
                  <a:srgbClr val="475569"/>
                </a:solidFill>
                <a:latin typeface="Aptos"/>
                <a:ea typeface="Calibri"/>
              </a:rPr>
              <a:t>응답</a:t>
            </a:r>
            <a:r>
              <a:rPr b="0" lang="en-US" sz="1400" spc="-1" strike="noStrike">
                <a:solidFill>
                  <a:srgbClr val="475569"/>
                </a:solidFill>
                <a:latin typeface="Aptos"/>
                <a:ea typeface="Calibri"/>
              </a:rPr>
              <a:t>·</a:t>
            </a:r>
            <a:r>
              <a:rPr b="0" lang="ko-KR" sz="1400" spc="-1" strike="noStrike">
                <a:solidFill>
                  <a:srgbClr val="475569"/>
                </a:solidFill>
                <a:latin typeface="Aptos"/>
                <a:ea typeface="Calibri"/>
              </a:rPr>
              <a:t>요청 </a:t>
            </a:r>
            <a:r>
              <a:rPr b="0" lang="en-US" sz="1400" spc="-1" strike="noStrike">
                <a:solidFill>
                  <a:srgbClr val="475569"/>
                </a:solidFill>
                <a:latin typeface="Aptos"/>
                <a:ea typeface="Calibri"/>
              </a:rPr>
              <a:t>Service, Action </a:t>
            </a:r>
            <a:r>
              <a:rPr b="0" lang="ko-KR" sz="1400" spc="-1" strike="noStrike">
                <a:solidFill>
                  <a:srgbClr val="475569"/>
                </a:solidFill>
                <a:latin typeface="Aptos"/>
                <a:ea typeface="Calibri"/>
              </a:rPr>
              <a:t>관계를 함께 확인합니다</a:t>
            </a:r>
            <a:r>
              <a:rPr b="0" lang="en-US" sz="1400" spc="-1" strike="noStrike">
                <a:solidFill>
                  <a:srgbClr val="475569"/>
                </a:solidFill>
                <a:latin typeface="Aptos"/>
                <a:ea typeface="Calibri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25" name="Picture 6" descr="node_table.png"/>
          <p:cNvPicPr/>
          <p:nvPr/>
        </p:nvPicPr>
        <p:blipFill>
          <a:blip r:embed="rId1"/>
          <a:stretch/>
        </p:blipFill>
        <p:spPr>
          <a:xfrm>
            <a:off x="685800" y="1321560"/>
            <a:ext cx="10833120" cy="1376280"/>
          </a:xfrm>
          <a:prstGeom prst="rect">
            <a:avLst/>
          </a:prstGeom>
          <a:ln w="0">
            <a:noFill/>
          </a:ln>
        </p:spPr>
      </p:pic>
      <p:sp>
        <p:nvSpPr>
          <p:cNvPr id="226" name="Rounded Rectangle 7"/>
          <p:cNvSpPr/>
          <p:nvPr/>
        </p:nvSpPr>
        <p:spPr>
          <a:xfrm>
            <a:off x="685800" y="2880360"/>
            <a:ext cx="2146320" cy="290160"/>
          </a:xfrm>
          <a:prstGeom prst="roundRect">
            <a:avLst>
              <a:gd name="adj" fmla="val 16667"/>
            </a:avLst>
          </a:prstGeom>
          <a:solidFill>
            <a:srgbClr val="eaf4f4"/>
          </a:solidFill>
          <a:ln w="10160">
            <a:solidFill>
              <a:srgbClr val="b7d8d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002b4a"/>
                </a:solidFill>
                <a:latin typeface="Aptos"/>
                <a:ea typeface="Calibri"/>
              </a:rPr>
              <a:t>1. Node </a:t>
            </a:r>
            <a:r>
              <a:rPr b="1" lang="ko-KR" sz="1100" spc="-1" strike="noStrike">
                <a:solidFill>
                  <a:srgbClr val="002b4a"/>
                </a:solidFill>
                <a:latin typeface="Aptos"/>
                <a:ea typeface="Calibri"/>
              </a:rPr>
              <a:t>목록</a:t>
            </a:r>
            <a:r>
              <a:rPr b="1" lang="en-US" sz="1100" spc="-1" strike="noStrike">
                <a:solidFill>
                  <a:srgbClr val="002b4a"/>
                </a:solidFill>
                <a:latin typeface="Aptos"/>
                <a:ea typeface="Calibri"/>
              </a:rPr>
              <a:t>: </a:t>
            </a:r>
            <a:r>
              <a:rPr b="1" lang="ko-KR" sz="1100" spc="-1" strike="noStrike">
                <a:solidFill>
                  <a:srgbClr val="002b4a"/>
                </a:solidFill>
                <a:latin typeface="Aptos"/>
                <a:ea typeface="Calibri"/>
              </a:rPr>
              <a:t>참여 수 요약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7" name="Rounded Rectangle 8"/>
          <p:cNvSpPr/>
          <p:nvPr/>
        </p:nvSpPr>
        <p:spPr>
          <a:xfrm>
            <a:off x="3286080" y="2880000"/>
            <a:ext cx="1414800" cy="290160"/>
          </a:xfrm>
          <a:prstGeom prst="roundRect">
            <a:avLst>
              <a:gd name="adj" fmla="val 16667"/>
            </a:avLst>
          </a:prstGeom>
          <a:solidFill>
            <a:srgbClr val="e8f2ff"/>
          </a:solidFill>
          <a:ln w="10160">
            <a:solidFill>
              <a:srgbClr val="bdd7f5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002b4a"/>
                </a:solidFill>
                <a:latin typeface="Aptos"/>
                <a:ea typeface="Calibri"/>
              </a:rPr>
              <a:t>2. Node </a:t>
            </a:r>
            <a:r>
              <a:rPr b="1" lang="ko-KR" sz="1100" spc="-1" strike="noStrike">
                <a:solidFill>
                  <a:srgbClr val="002b4a"/>
                </a:solidFill>
                <a:latin typeface="Aptos"/>
                <a:ea typeface="Calibri"/>
              </a:rPr>
              <a:t>상세정보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8" name="Rounded Rectangle 9"/>
          <p:cNvSpPr/>
          <p:nvPr/>
        </p:nvSpPr>
        <p:spPr>
          <a:xfrm>
            <a:off x="7362000" y="2880000"/>
            <a:ext cx="1478880" cy="290160"/>
          </a:xfrm>
          <a:prstGeom prst="roundRect">
            <a:avLst>
              <a:gd name="adj" fmla="val 16667"/>
            </a:avLst>
          </a:prstGeom>
          <a:solidFill>
            <a:srgbClr val="e8f2ff"/>
          </a:solidFill>
          <a:ln w="10160">
            <a:solidFill>
              <a:srgbClr val="bdd7f5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002b4a"/>
                </a:solidFill>
                <a:latin typeface="Aptos"/>
                <a:ea typeface="Calibri"/>
              </a:rPr>
              <a:t>4. Service </a:t>
            </a:r>
            <a:r>
              <a:rPr b="1" lang="ko-KR" sz="1100" spc="-1" strike="noStrike">
                <a:solidFill>
                  <a:srgbClr val="002b4a"/>
                </a:solidFill>
                <a:latin typeface="Aptos"/>
                <a:ea typeface="Calibri"/>
              </a:rPr>
              <a:t>관계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9" name="Rounded Rectangle 13"/>
          <p:cNvSpPr/>
          <p:nvPr/>
        </p:nvSpPr>
        <p:spPr>
          <a:xfrm>
            <a:off x="9280080" y="3514320"/>
            <a:ext cx="2237760" cy="2603520"/>
          </a:xfrm>
          <a:prstGeom prst="roundRect">
            <a:avLst>
              <a:gd name="adj" fmla="val 16667"/>
            </a:avLst>
          </a:prstGeom>
          <a:solidFill>
            <a:srgbClr val="eef8f7"/>
          </a:solidFill>
          <a:ln>
            <a:solidFill>
              <a:srgbClr val="b7d8d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b="1" lang="ko-KR" sz="1300" spc="-1" strike="noStrike">
                <a:solidFill>
                  <a:srgbClr val="002b4a"/>
                </a:solidFill>
                <a:latin typeface="Aptos"/>
                <a:ea typeface="Calibri"/>
              </a:rPr>
              <a:t>핵심 포인트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1.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현재 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active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상태 확인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2. Topic·Service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연결 수 확인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3.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상세 패널에서 실제 이름과 타입 확인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br>
              <a:rPr sz="1100"/>
            </a:b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사라진 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Node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는 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timeout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동안 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stale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로 남겨 화면 흔들림을 줄입니다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0" name="Rectangle 14"/>
          <p:cNvSpPr/>
          <p:nvPr/>
        </p:nvSpPr>
        <p:spPr>
          <a:xfrm>
            <a:off x="540000" y="6660000"/>
            <a:ext cx="11061720" cy="6480"/>
          </a:xfrm>
          <a:prstGeom prst="rect">
            <a:avLst/>
          </a:prstGeom>
          <a:solidFill>
            <a:srgbClr val="ca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31" name="TextBox 15"/>
          <p:cNvSpPr/>
          <p:nvPr/>
        </p:nvSpPr>
        <p:spPr>
          <a:xfrm>
            <a:off x="685800" y="6473880"/>
            <a:ext cx="8684280" cy="1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pic>
        <p:nvPicPr>
          <p:cNvPr id="232" name="" descr=""/>
          <p:cNvPicPr/>
          <p:nvPr/>
        </p:nvPicPr>
        <p:blipFill>
          <a:blip r:embed="rId2"/>
          <a:stretch/>
        </p:blipFill>
        <p:spPr>
          <a:xfrm>
            <a:off x="3083040" y="3413520"/>
            <a:ext cx="1859760" cy="3058200"/>
          </a:xfrm>
          <a:prstGeom prst="rect">
            <a:avLst/>
          </a:prstGeom>
          <a:ln w="0">
            <a:noFill/>
          </a:ln>
        </p:spPr>
      </p:pic>
      <p:sp>
        <p:nvSpPr>
          <p:cNvPr id="233" name="Rounded Rectangle 1"/>
          <p:cNvSpPr/>
          <p:nvPr/>
        </p:nvSpPr>
        <p:spPr>
          <a:xfrm>
            <a:off x="5266080" y="2880000"/>
            <a:ext cx="1414800" cy="290160"/>
          </a:xfrm>
          <a:prstGeom prst="roundRect">
            <a:avLst>
              <a:gd name="adj" fmla="val 16667"/>
            </a:avLst>
          </a:prstGeom>
          <a:solidFill>
            <a:srgbClr val="e8f2ff"/>
          </a:solidFill>
          <a:ln w="10160">
            <a:solidFill>
              <a:srgbClr val="bdd7f5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002b4a"/>
                </a:solidFill>
                <a:latin typeface="Aptos"/>
                <a:ea typeface="Calibri"/>
              </a:rPr>
              <a:t>3. Topic </a:t>
            </a:r>
            <a:r>
              <a:rPr b="1" lang="ko-KR" sz="1100" spc="-1" strike="noStrike">
                <a:solidFill>
                  <a:srgbClr val="002b4a"/>
                </a:solidFill>
                <a:latin typeface="Aptos"/>
                <a:ea typeface="Calibri"/>
              </a:rPr>
              <a:t>관계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34" name="" descr=""/>
          <p:cNvPicPr/>
          <p:nvPr/>
        </p:nvPicPr>
        <p:blipFill>
          <a:blip r:embed="rId3"/>
          <a:stretch/>
        </p:blipFill>
        <p:spPr>
          <a:xfrm>
            <a:off x="5063040" y="3420000"/>
            <a:ext cx="1977840" cy="3051720"/>
          </a:xfrm>
          <a:prstGeom prst="rect">
            <a:avLst/>
          </a:prstGeom>
          <a:ln w="0">
            <a:noFill/>
          </a:ln>
        </p:spPr>
      </p:pic>
      <p:pic>
        <p:nvPicPr>
          <p:cNvPr id="235" name="" descr=""/>
          <p:cNvPicPr/>
          <p:nvPr/>
        </p:nvPicPr>
        <p:blipFill>
          <a:blip r:embed="rId4"/>
          <a:stretch/>
        </p:blipFill>
        <p:spPr>
          <a:xfrm>
            <a:off x="7223040" y="3420000"/>
            <a:ext cx="1775520" cy="3051720"/>
          </a:xfrm>
          <a:prstGeom prst="rect">
            <a:avLst/>
          </a:prstGeom>
          <a:ln w="0">
            <a:noFill/>
          </a:ln>
        </p:spPr>
      </p:pic>
      <p:sp>
        <p:nvSpPr>
          <p:cNvPr id="236" name="Rounded Rectangle 2"/>
          <p:cNvSpPr/>
          <p:nvPr/>
        </p:nvSpPr>
        <p:spPr>
          <a:xfrm>
            <a:off x="720000" y="3420000"/>
            <a:ext cx="2134800" cy="2877840"/>
          </a:xfrm>
          <a:prstGeom prst="roundRect">
            <a:avLst>
              <a:gd name="adj" fmla="val 16667"/>
            </a:avLst>
          </a:prstGeom>
          <a:solidFill>
            <a:srgbClr val="e8f2ff"/>
          </a:solidFill>
          <a:ln w="10160">
            <a:solidFill>
              <a:srgbClr val="bdd7f5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18360" bIns="18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ko-KR" sz="1300" spc="-1" strike="noStrike">
                <a:solidFill>
                  <a:srgbClr val="002b4a"/>
                </a:solidFill>
                <a:latin typeface="Aptos"/>
                <a:ea typeface="Calibri"/>
              </a:rPr>
              <a:t>목록에서 보는 값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·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발행 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Topic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수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·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구독 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Topic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수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·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응답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/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요청 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Service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수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· Goal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실행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/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요청 수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br>
              <a:rPr sz="1100"/>
            </a:b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Node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이름만이 아니라 통신 참여 관계를 함께 봅니다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 1"/>
          <p:cNvSpPr/>
          <p:nvPr/>
        </p:nvSpPr>
        <p:spPr>
          <a:xfrm>
            <a:off x="0" y="0"/>
            <a:ext cx="12188520" cy="69480"/>
          </a:xfrm>
          <a:prstGeom prst="rect">
            <a:avLst/>
          </a:prstGeom>
          <a:solidFill>
            <a:srgbClr val="00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38" name="TextBox 2"/>
          <p:cNvSpPr/>
          <p:nvPr/>
        </p:nvSpPr>
        <p:spPr>
          <a:xfrm>
            <a:off x="821160" y="146160"/>
            <a:ext cx="787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07bbe"/>
                </a:solidFill>
                <a:latin typeface="Calibri"/>
                <a:ea typeface="Calibri"/>
              </a:rPr>
              <a:t>MONITORING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9" name="TextBox 3"/>
          <p:cNvSpPr/>
          <p:nvPr/>
        </p:nvSpPr>
        <p:spPr>
          <a:xfrm>
            <a:off x="11277720" y="146160"/>
            <a:ext cx="3002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800" spc="-1" strike="noStrike">
                <a:solidFill>
                  <a:srgbClr val="6b7c8f"/>
                </a:solidFill>
                <a:latin typeface="Malgun Gothic"/>
                <a:ea typeface="Calibri"/>
              </a:rPr>
              <a:t>11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0" name="TextBox 4"/>
          <p:cNvSpPr/>
          <p:nvPr/>
        </p:nvSpPr>
        <p:spPr>
          <a:xfrm>
            <a:off x="2284920" y="384120"/>
            <a:ext cx="74613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Visualization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은 </a:t>
            </a: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Node 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중심의 통신 관계를 그래프로 보여줍니다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1" name="TextBox 5"/>
          <p:cNvSpPr/>
          <p:nvPr/>
        </p:nvSpPr>
        <p:spPr>
          <a:xfrm>
            <a:off x="3578760" y="822960"/>
            <a:ext cx="45446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기존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REST 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데이터를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Frontend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에서 조합해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React Flow nodes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와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edges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로 변환합니다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.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2" name="Rounded Rectangle 9"/>
          <p:cNvSpPr/>
          <p:nvPr/>
        </p:nvSpPr>
        <p:spPr>
          <a:xfrm>
            <a:off x="77724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0094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50" spc="-1" strike="noStrike">
                <a:solidFill>
                  <a:srgbClr val="009488"/>
                </a:solidFill>
                <a:latin typeface="Calibri"/>
                <a:ea typeface="Calibri"/>
              </a:rPr>
              <a:t>선택 </a:t>
            </a:r>
            <a:r>
              <a:rPr b="1" lang="en-US" sz="850" spc="-1" strike="noStrike">
                <a:solidFill>
                  <a:srgbClr val="009488"/>
                </a:solidFill>
                <a:latin typeface="Calibri"/>
                <a:ea typeface="Calibri"/>
              </a:rPr>
              <a:t>Node </a:t>
            </a:r>
            <a:r>
              <a:rPr b="1" lang="ko-KR" sz="850" spc="-1" strike="noStrike">
                <a:solidFill>
                  <a:srgbClr val="009488"/>
                </a:solidFill>
                <a:latin typeface="Calibri"/>
                <a:ea typeface="Calibri"/>
              </a:rPr>
              <a:t>중심 </a:t>
            </a:r>
            <a:r>
              <a:rPr b="1" lang="en-US" sz="850" spc="-1" strike="noStrike">
                <a:solidFill>
                  <a:srgbClr val="009488"/>
                </a:solidFill>
                <a:latin typeface="Calibri"/>
                <a:ea typeface="Calibri"/>
              </a:rPr>
              <a:t>1-hop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3" name="Rounded Rectangle 10"/>
          <p:cNvSpPr/>
          <p:nvPr/>
        </p:nvSpPr>
        <p:spPr>
          <a:xfrm>
            <a:off x="436788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007bb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7bbe"/>
                </a:solidFill>
                <a:latin typeface="Calibri"/>
                <a:ea typeface="Calibri"/>
              </a:rPr>
              <a:t>Topic · Service · Action </a:t>
            </a:r>
            <a:r>
              <a:rPr b="1" lang="ko-KR" sz="850" spc="-1" strike="noStrike">
                <a:solidFill>
                  <a:srgbClr val="007bbe"/>
                </a:solidFill>
                <a:latin typeface="Calibri"/>
                <a:ea typeface="Calibri"/>
              </a:rPr>
              <a:t>연결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4" name="Rounded Rectangle 11"/>
          <p:cNvSpPr/>
          <p:nvPr/>
        </p:nvSpPr>
        <p:spPr>
          <a:xfrm>
            <a:off x="795816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f0aa3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전체 </a:t>
            </a:r>
            <a:r>
              <a:rPr b="1" lang="en-US" sz="850" spc="-1" strike="noStrike">
                <a:solidFill>
                  <a:srgbClr val="f0aa3c"/>
                </a:solidFill>
                <a:latin typeface="Calibri"/>
                <a:ea typeface="Calibri"/>
              </a:rPr>
              <a:t>Graph</a:t>
            </a: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와 배치 초기화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5" name="TextBox 12"/>
          <p:cNvSpPr/>
          <p:nvPr/>
        </p:nvSpPr>
        <p:spPr>
          <a:xfrm>
            <a:off x="457200" y="6565320"/>
            <a:ext cx="112435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실제 화면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: Visualization / React Flow graph / Node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중심 관계</a:t>
            </a:r>
            <a:endParaRPr b="0" lang="en-US" sz="62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46" name="Picture 13" descr="viz_clean_top_crop.png"/>
          <p:cNvPicPr/>
          <p:nvPr/>
        </p:nvPicPr>
        <p:blipFill>
          <a:blip r:embed="rId1"/>
          <a:srcRect l="1936" t="0" r="3252" b="0"/>
          <a:stretch/>
        </p:blipFill>
        <p:spPr>
          <a:xfrm>
            <a:off x="720360" y="1143000"/>
            <a:ext cx="10616400" cy="451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"/>
          <p:cNvSpPr/>
          <p:nvPr/>
        </p:nvSpPr>
        <p:spPr>
          <a:xfrm>
            <a:off x="609480" y="266760"/>
            <a:ext cx="20919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8b8b"/>
                </a:solidFill>
                <a:latin typeface="Calibri"/>
                <a:ea typeface="Calibri"/>
              </a:rPr>
              <a:t>INTERFACE LAB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8" name=""/>
          <p:cNvSpPr/>
          <p:nvPr/>
        </p:nvSpPr>
        <p:spPr>
          <a:xfrm>
            <a:off x="609480" y="552600"/>
            <a:ext cx="102834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2550" spc="-1" strike="noStrike">
                <a:solidFill>
                  <a:srgbClr val="12304a"/>
                </a:solidFill>
                <a:latin typeface="Calibri"/>
                <a:ea typeface="Calibri"/>
              </a:rPr>
              <a:t>자동 모니터링은 관찰</a:t>
            </a:r>
            <a:r>
              <a:rPr b="1" lang="en-US" sz="2550" spc="-1" strike="noStrike">
                <a:solidFill>
                  <a:srgbClr val="12304a"/>
                </a:solidFill>
                <a:latin typeface="Calibri"/>
                <a:ea typeface="Calibri"/>
              </a:rPr>
              <a:t>, Interface Lab</a:t>
            </a:r>
            <a:r>
              <a:rPr b="1" lang="ko-KR" sz="2550" spc="-1" strike="noStrike">
                <a:solidFill>
                  <a:srgbClr val="12304a"/>
                </a:solidFill>
                <a:latin typeface="Calibri"/>
                <a:ea typeface="Calibri"/>
              </a:rPr>
              <a:t>은 사용자 실행입니다</a:t>
            </a:r>
            <a:endParaRPr b="0" lang="en-US" sz="25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9" name=""/>
          <p:cNvSpPr/>
          <p:nvPr/>
        </p:nvSpPr>
        <p:spPr>
          <a:xfrm>
            <a:off x="609480" y="1047600"/>
            <a:ext cx="104738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두 영역은 목적과 실행 시점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, 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저장하는 결과가 다릅니다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0" name=""/>
          <p:cNvSpPr/>
          <p:nvPr/>
        </p:nvSpPr>
        <p:spPr>
          <a:xfrm>
            <a:off x="11163240" y="304920"/>
            <a:ext cx="47268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</a:pPr>
            <a:r>
              <a:rPr b="1" lang="en-US" sz="800" spc="-1" strike="noStrike">
                <a:solidFill>
                  <a:srgbClr val="6b7c8f"/>
                </a:solidFill>
                <a:latin typeface="Malgun Gothic"/>
                <a:ea typeface="Calibri"/>
              </a:rPr>
              <a:t>12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1" name=""/>
          <p:cNvSpPr/>
          <p:nvPr/>
        </p:nvSpPr>
        <p:spPr>
          <a:xfrm>
            <a:off x="666720" y="1752480"/>
            <a:ext cx="5044680" cy="3520800"/>
          </a:xfrm>
          <a:prstGeom prst="roundRect">
            <a:avLst>
              <a:gd name="adj" fmla="val 2162"/>
            </a:avLst>
          </a:prstGeom>
          <a:solidFill>
            <a:srgbClr val="eaf2fb"/>
          </a:solidFill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252" name=""/>
          <p:cNvSpPr/>
          <p:nvPr/>
        </p:nvSpPr>
        <p:spPr>
          <a:xfrm>
            <a:off x="933480" y="2019240"/>
            <a:ext cx="333000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2304a"/>
                </a:solidFill>
                <a:latin typeface="Calibri"/>
                <a:ea typeface="Calibri"/>
              </a:rPr>
              <a:t>AUTOMATIC MONITORING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3" name=""/>
          <p:cNvSpPr/>
          <p:nvPr/>
        </p:nvSpPr>
        <p:spPr>
          <a:xfrm>
            <a:off x="952560" y="2495520"/>
            <a:ext cx="41875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500" spc="-1" strike="noStrike">
                <a:solidFill>
                  <a:srgbClr val="172b3a"/>
                </a:solidFill>
                <a:latin typeface="Calibri"/>
                <a:ea typeface="Calibri"/>
              </a:rPr>
              <a:t>현재 </a:t>
            </a:r>
            <a:r>
              <a:rPr b="1" lang="en-US" sz="1500" spc="-1" strike="noStrike">
                <a:solidFill>
                  <a:srgbClr val="172b3a"/>
                </a:solidFill>
                <a:latin typeface="Calibri"/>
                <a:ea typeface="Calibri"/>
              </a:rPr>
              <a:t>ROS2 </a:t>
            </a:r>
            <a:r>
              <a:rPr b="1" lang="ko-KR" sz="1500" spc="-1" strike="noStrike">
                <a:solidFill>
                  <a:srgbClr val="172b3a"/>
                </a:solidFill>
                <a:latin typeface="Calibri"/>
                <a:ea typeface="Calibri"/>
              </a:rPr>
              <a:t>시스템을 자동으로 관찰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4" name=""/>
          <p:cNvSpPr/>
          <p:nvPr/>
        </p:nvSpPr>
        <p:spPr>
          <a:xfrm>
            <a:off x="1009800" y="3048120"/>
            <a:ext cx="4092120" cy="15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•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Graph discovery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• 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상태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·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수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·latest·Hz·stale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•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Runtime cache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와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snapshot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• 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새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Call / Goal 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자동 실행 안 함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5" name=""/>
          <p:cNvSpPr/>
          <p:nvPr/>
        </p:nvSpPr>
        <p:spPr>
          <a:xfrm>
            <a:off x="6477120" y="1752480"/>
            <a:ext cx="5044680" cy="3520800"/>
          </a:xfrm>
          <a:prstGeom prst="roundRect">
            <a:avLst>
              <a:gd name="adj" fmla="val 2162"/>
            </a:avLst>
          </a:prstGeom>
          <a:solidFill>
            <a:srgbClr val="e6f6f3"/>
          </a:solidFill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256" name=""/>
          <p:cNvSpPr/>
          <p:nvPr/>
        </p:nvSpPr>
        <p:spPr>
          <a:xfrm>
            <a:off x="6743880" y="2019240"/>
            <a:ext cx="266328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8b8b"/>
                </a:solidFill>
                <a:latin typeface="Calibri"/>
                <a:ea typeface="Calibri"/>
              </a:rPr>
              <a:t>INTERFACE LAB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7" name=""/>
          <p:cNvSpPr/>
          <p:nvPr/>
        </p:nvSpPr>
        <p:spPr>
          <a:xfrm>
            <a:off x="6762600" y="2495520"/>
            <a:ext cx="41875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500" spc="-1" strike="noStrike">
                <a:solidFill>
                  <a:srgbClr val="172b3a"/>
                </a:solidFill>
                <a:latin typeface="Calibri"/>
                <a:ea typeface="Calibri"/>
              </a:rPr>
              <a:t>등록한 타입으로 통신을 직접 실행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8" name=""/>
          <p:cNvSpPr/>
          <p:nvPr/>
        </p:nvSpPr>
        <p:spPr>
          <a:xfrm>
            <a:off x="6819840" y="3048120"/>
            <a:ext cx="4092120" cy="15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•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Interface 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등록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·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업로드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•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Build / Apply / import 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확인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•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Publish · Receive · Call · Goal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• 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결과와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history 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확인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9" name=""/>
          <p:cNvSpPr/>
          <p:nvPr/>
        </p:nvSpPr>
        <p:spPr>
          <a:xfrm>
            <a:off x="4476600" y="5619600"/>
            <a:ext cx="142524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rgbClr val="12304a"/>
                </a:solidFill>
                <a:latin typeface="Calibri"/>
                <a:ea typeface="Calibri"/>
              </a:rPr>
              <a:t>관찰 결과를 보고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0" name=""/>
          <p:cNvSpPr/>
          <p:nvPr/>
        </p:nvSpPr>
        <p:spPr>
          <a:xfrm>
            <a:off x="5810040" y="5752800"/>
            <a:ext cx="571680" cy="360"/>
          </a:xfrm>
          <a:prstGeom prst="line">
            <a:avLst/>
          </a:prstGeom>
          <a:ln w="28575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261" name=""/>
          <p:cNvSpPr/>
          <p:nvPr/>
        </p:nvSpPr>
        <p:spPr>
          <a:xfrm>
            <a:off x="6477120" y="5619600"/>
            <a:ext cx="171108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rgbClr val="008b8b"/>
                </a:solidFill>
                <a:latin typeface="Calibri"/>
                <a:ea typeface="Calibri"/>
              </a:rPr>
              <a:t>필요할 때 실행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2" name=""/>
          <p:cNvSpPr/>
          <p:nvPr/>
        </p:nvSpPr>
        <p:spPr>
          <a:xfrm>
            <a:off x="609480" y="6476760"/>
            <a:ext cx="10972800" cy="360"/>
          </a:xfrm>
          <a:prstGeom prst="line">
            <a:avLst/>
          </a:prstGeom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263" name=""/>
          <p:cNvSpPr/>
          <p:nvPr/>
        </p:nvSpPr>
        <p:spPr>
          <a:xfrm>
            <a:off x="609480" y="6534000"/>
            <a:ext cx="1096920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750" spc="-1" strike="noStrike">
                <a:solidFill>
                  <a:srgbClr val="5b6b78"/>
                </a:solidFill>
                <a:latin typeface="Calibri"/>
                <a:ea typeface="Calibri"/>
              </a:rPr>
              <a:t>근거</a:t>
            </a:r>
            <a:r>
              <a:rPr b="0" lang="en-US" sz="750" spc="-1" strike="noStrike">
                <a:solidFill>
                  <a:srgbClr val="5b6b78"/>
                </a:solidFill>
                <a:latin typeface="Calibri"/>
                <a:ea typeface="Calibri"/>
              </a:rPr>
              <a:t>: AGENTS.md §12 · routers/interface_* · interface_lab/management · apply · execution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4" name="Rectangle 5"/>
          <p:cNvSpPr/>
          <p:nvPr/>
        </p:nvSpPr>
        <p:spPr>
          <a:xfrm>
            <a:off x="0" y="0"/>
            <a:ext cx="12188520" cy="69480"/>
          </a:xfrm>
          <a:prstGeom prst="rect">
            <a:avLst/>
          </a:prstGeom>
          <a:solidFill>
            <a:srgbClr val="00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1"/>
          <p:cNvSpPr/>
          <p:nvPr/>
        </p:nvSpPr>
        <p:spPr>
          <a:xfrm>
            <a:off x="0" y="0"/>
            <a:ext cx="12188520" cy="69480"/>
          </a:xfrm>
          <a:prstGeom prst="rect">
            <a:avLst/>
          </a:prstGeom>
          <a:solidFill>
            <a:srgbClr val="00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66" name="TextBox 2"/>
          <p:cNvSpPr/>
          <p:nvPr/>
        </p:nvSpPr>
        <p:spPr>
          <a:xfrm>
            <a:off x="790920" y="146160"/>
            <a:ext cx="84852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07bbe"/>
                </a:solidFill>
                <a:latin typeface="Calibri"/>
                <a:ea typeface="Calibri"/>
              </a:rPr>
              <a:t>INTERFACE LAB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7" name="TextBox 3"/>
          <p:cNvSpPr/>
          <p:nvPr/>
        </p:nvSpPr>
        <p:spPr>
          <a:xfrm>
            <a:off x="11277720" y="146160"/>
            <a:ext cx="3002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800" spc="-1" strike="noStrike">
                <a:solidFill>
                  <a:srgbClr val="6b7c8f"/>
                </a:solidFill>
                <a:latin typeface="Malgun Gothic"/>
                <a:ea typeface="Calibri"/>
              </a:rPr>
              <a:t>13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8" name="TextBox 4"/>
          <p:cNvSpPr/>
          <p:nvPr/>
        </p:nvSpPr>
        <p:spPr>
          <a:xfrm>
            <a:off x="2632320" y="384120"/>
            <a:ext cx="6766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Interface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는 직접 작성하거나 패키지로 등록할 수 있습니다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9" name="TextBox 5"/>
          <p:cNvSpPr/>
          <p:nvPr/>
        </p:nvSpPr>
        <p:spPr>
          <a:xfrm>
            <a:off x="3680280" y="822960"/>
            <a:ext cx="4341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간단한 정의는 화면에서 작성하고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, 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실제 장비 타입은 원본 패키지 단위로 등록합니다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.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0" name="Rounded Rectangle 9"/>
          <p:cNvSpPr/>
          <p:nvPr/>
        </p:nvSpPr>
        <p:spPr>
          <a:xfrm>
            <a:off x="77724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0094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9488"/>
                </a:solidFill>
                <a:latin typeface="Calibri"/>
                <a:ea typeface="Calibri"/>
              </a:rPr>
              <a:t>kind · type name </a:t>
            </a:r>
            <a:r>
              <a:rPr b="1" lang="ko-KR" sz="850" spc="-1" strike="noStrike">
                <a:solidFill>
                  <a:srgbClr val="009488"/>
                </a:solidFill>
                <a:latin typeface="Calibri"/>
                <a:ea typeface="Calibri"/>
              </a:rPr>
              <a:t>입력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1" name="Rounded Rectangle 10"/>
          <p:cNvSpPr/>
          <p:nvPr/>
        </p:nvSpPr>
        <p:spPr>
          <a:xfrm>
            <a:off x="436788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007bb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7bbe"/>
                </a:solidFill>
                <a:latin typeface="Calibri"/>
                <a:ea typeface="Calibri"/>
              </a:rPr>
              <a:t>msg / srv / action </a:t>
            </a:r>
            <a:r>
              <a:rPr b="1" lang="ko-KR" sz="850" spc="-1" strike="noStrike">
                <a:solidFill>
                  <a:srgbClr val="007bbe"/>
                </a:solidFill>
                <a:latin typeface="Calibri"/>
                <a:ea typeface="Calibri"/>
              </a:rPr>
              <a:t>정의 작성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2" name="Rounded Rectangle 11"/>
          <p:cNvSpPr/>
          <p:nvPr/>
        </p:nvSpPr>
        <p:spPr>
          <a:xfrm>
            <a:off x="795816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f0aa3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문법 검증 후 저장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3" name="TextBox 12"/>
          <p:cNvSpPr/>
          <p:nvPr/>
        </p:nvSpPr>
        <p:spPr>
          <a:xfrm>
            <a:off x="457200" y="6565320"/>
            <a:ext cx="112435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실제 화면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: Interface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직접 작성 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/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문법 검증 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/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저장 위치</a:t>
            </a:r>
            <a:endParaRPr b="0" lang="en-US" sz="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4" name="Rectangle 6"/>
          <p:cNvSpPr/>
          <p:nvPr/>
        </p:nvSpPr>
        <p:spPr>
          <a:xfrm>
            <a:off x="0" y="0"/>
            <a:ext cx="12188520" cy="69480"/>
          </a:xfrm>
          <a:prstGeom prst="rect">
            <a:avLst/>
          </a:prstGeom>
          <a:solidFill>
            <a:srgbClr val="00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275" name="" descr=""/>
          <p:cNvPicPr/>
          <p:nvPr/>
        </p:nvPicPr>
        <p:blipFill>
          <a:blip r:embed="rId1"/>
          <a:stretch/>
        </p:blipFill>
        <p:spPr>
          <a:xfrm>
            <a:off x="1080000" y="1271520"/>
            <a:ext cx="4322880" cy="4306320"/>
          </a:xfrm>
          <a:prstGeom prst="rect">
            <a:avLst/>
          </a:prstGeom>
          <a:ln w="0">
            <a:noFill/>
          </a:ln>
        </p:spPr>
      </p:pic>
      <p:pic>
        <p:nvPicPr>
          <p:cNvPr id="276" name="" descr=""/>
          <p:cNvPicPr/>
          <p:nvPr/>
        </p:nvPicPr>
        <p:blipFill>
          <a:blip r:embed="rId2"/>
          <a:stretch/>
        </p:blipFill>
        <p:spPr>
          <a:xfrm>
            <a:off x="5760000" y="1260000"/>
            <a:ext cx="5238000" cy="431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1"/>
          <p:cNvSpPr/>
          <p:nvPr/>
        </p:nvSpPr>
        <p:spPr>
          <a:xfrm>
            <a:off x="0" y="0"/>
            <a:ext cx="12188520" cy="69480"/>
          </a:xfrm>
          <a:prstGeom prst="rect">
            <a:avLst/>
          </a:prstGeom>
          <a:solidFill>
            <a:srgbClr val="00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78" name="TextBox 2"/>
          <p:cNvSpPr/>
          <p:nvPr/>
        </p:nvSpPr>
        <p:spPr>
          <a:xfrm>
            <a:off x="790920" y="146160"/>
            <a:ext cx="84852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07bbe"/>
                </a:solidFill>
                <a:latin typeface="Calibri"/>
                <a:ea typeface="Calibri"/>
              </a:rPr>
              <a:t>INTERFACE LAB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9" name="TextBox 3"/>
          <p:cNvSpPr/>
          <p:nvPr/>
        </p:nvSpPr>
        <p:spPr>
          <a:xfrm>
            <a:off x="11277720" y="146160"/>
            <a:ext cx="3002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800" spc="-1" strike="noStrike">
                <a:solidFill>
                  <a:srgbClr val="6b7c8f"/>
                </a:solidFill>
                <a:latin typeface="Malgun Gothic"/>
                <a:ea typeface="Calibri"/>
              </a:rPr>
              <a:t>14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0" name="TextBox 4"/>
          <p:cNvSpPr/>
          <p:nvPr/>
        </p:nvSpPr>
        <p:spPr>
          <a:xfrm>
            <a:off x="2944800" y="384120"/>
            <a:ext cx="6141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Apply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는 패키지 빌드와 </a:t>
            </a: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import 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확인까지 포함합니다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1" name="TextBox 5"/>
          <p:cNvSpPr/>
          <p:nvPr/>
        </p:nvSpPr>
        <p:spPr>
          <a:xfrm>
            <a:off x="2958480" y="822960"/>
            <a:ext cx="57852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업로드된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ROS2 Interface 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패키지를 빌드하고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Backend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가 실제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Python 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타입을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import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할 수 있는지 확인합니다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.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82" name="Picture 7" descr="package.png"/>
          <p:cNvPicPr/>
          <p:nvPr/>
        </p:nvPicPr>
        <p:blipFill>
          <a:blip r:embed="rId1"/>
          <a:stretch/>
        </p:blipFill>
        <p:spPr>
          <a:xfrm>
            <a:off x="502920" y="1341360"/>
            <a:ext cx="11197800" cy="4180680"/>
          </a:xfrm>
          <a:prstGeom prst="rect">
            <a:avLst/>
          </a:prstGeom>
          <a:ln w="0">
            <a:noFill/>
          </a:ln>
        </p:spPr>
      </p:pic>
      <p:sp>
        <p:nvSpPr>
          <p:cNvPr id="283" name="Rounded Rectangle 9"/>
          <p:cNvSpPr/>
          <p:nvPr/>
        </p:nvSpPr>
        <p:spPr>
          <a:xfrm>
            <a:off x="77724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0094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50" spc="-1" strike="noStrike">
                <a:solidFill>
                  <a:srgbClr val="009488"/>
                </a:solidFill>
                <a:latin typeface="Calibri"/>
                <a:ea typeface="Calibri"/>
              </a:rPr>
              <a:t>패키지 경로와 </a:t>
            </a:r>
            <a:r>
              <a:rPr b="1" lang="en-US" sz="850" spc="-1" strike="noStrike">
                <a:solidFill>
                  <a:srgbClr val="009488"/>
                </a:solidFill>
                <a:latin typeface="Calibri"/>
                <a:ea typeface="Calibri"/>
              </a:rPr>
              <a:t>source </a:t>
            </a:r>
            <a:r>
              <a:rPr b="1" lang="ko-KR" sz="850" spc="-1" strike="noStrike">
                <a:solidFill>
                  <a:srgbClr val="009488"/>
                </a:solidFill>
                <a:latin typeface="Calibri"/>
                <a:ea typeface="Calibri"/>
              </a:rPr>
              <a:t>확인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4" name="Rounded Rectangle 10"/>
          <p:cNvSpPr/>
          <p:nvPr/>
        </p:nvSpPr>
        <p:spPr>
          <a:xfrm>
            <a:off x="436788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007bb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7bbe"/>
                </a:solidFill>
                <a:latin typeface="Calibri"/>
                <a:ea typeface="Calibri"/>
              </a:rPr>
              <a:t>msg · srv </a:t>
            </a:r>
            <a:r>
              <a:rPr b="1" lang="ko-KR" sz="850" spc="-1" strike="noStrike">
                <a:solidFill>
                  <a:srgbClr val="007bbe"/>
                </a:solidFill>
                <a:latin typeface="Calibri"/>
                <a:ea typeface="Calibri"/>
              </a:rPr>
              <a:t>타입 </a:t>
            </a:r>
            <a:r>
              <a:rPr b="1" lang="en-US" sz="850" spc="-1" strike="noStrike">
                <a:solidFill>
                  <a:srgbClr val="007bbe"/>
                </a:solidFill>
                <a:latin typeface="Calibri"/>
                <a:ea typeface="Calibri"/>
              </a:rPr>
              <a:t>import</a:t>
            </a:r>
            <a:r>
              <a:rPr b="1" lang="ko-KR" sz="850" spc="-1" strike="noStrike">
                <a:solidFill>
                  <a:srgbClr val="007bbe"/>
                </a:solidFill>
                <a:latin typeface="Calibri"/>
                <a:ea typeface="Calibri"/>
              </a:rPr>
              <a:t>됨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5" name="Rounded Rectangle 11"/>
          <p:cNvSpPr/>
          <p:nvPr/>
        </p:nvSpPr>
        <p:spPr>
          <a:xfrm>
            <a:off x="7958160" y="587952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f0aa3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실제 장비 타입 확장 가능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6" name="TextBox 12"/>
          <p:cNvSpPr/>
          <p:nvPr/>
        </p:nvSpPr>
        <p:spPr>
          <a:xfrm>
            <a:off x="457200" y="6565320"/>
            <a:ext cx="112435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실제 화면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: Uploaded Interface Packages / rths_interfaces / import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됨</a:t>
            </a:r>
            <a:endParaRPr b="0" lang="en-US" sz="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7" name="Rectangle 7"/>
          <p:cNvSpPr/>
          <p:nvPr/>
        </p:nvSpPr>
        <p:spPr>
          <a:xfrm>
            <a:off x="0" y="0"/>
            <a:ext cx="12188520" cy="69480"/>
          </a:xfrm>
          <a:prstGeom prst="rect">
            <a:avLst/>
          </a:prstGeom>
          <a:solidFill>
            <a:srgbClr val="00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/>
          <p:nvPr/>
        </p:nvSpPr>
        <p:spPr>
          <a:xfrm>
            <a:off x="609480" y="266760"/>
            <a:ext cx="20919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8b8b"/>
                </a:solidFill>
                <a:latin typeface="Calibri"/>
                <a:ea typeface="Calibri"/>
              </a:rPr>
              <a:t>INTERFACE LAB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9" name=""/>
          <p:cNvSpPr/>
          <p:nvPr/>
        </p:nvSpPr>
        <p:spPr>
          <a:xfrm>
            <a:off x="609480" y="552600"/>
            <a:ext cx="102834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pc="-1" strike="noStrike">
                <a:solidFill>
                  <a:srgbClr val="12304a"/>
                </a:solidFill>
                <a:latin typeface="Calibri"/>
                <a:ea typeface="Calibri"/>
              </a:rPr>
              <a:t>Topic Lab</a:t>
            </a:r>
            <a:r>
              <a:rPr b="1" lang="ko-KR" sz="2550" spc="-1" strike="noStrike">
                <a:solidFill>
                  <a:srgbClr val="12304a"/>
                </a:solidFill>
                <a:latin typeface="Calibri"/>
                <a:ea typeface="Calibri"/>
              </a:rPr>
              <a:t>은 같은 타입으로 </a:t>
            </a:r>
            <a:r>
              <a:rPr b="1" lang="en-US" sz="2550" spc="-1" strike="noStrike">
                <a:solidFill>
                  <a:srgbClr val="12304a"/>
                </a:solidFill>
                <a:latin typeface="Calibri"/>
                <a:ea typeface="Calibri"/>
              </a:rPr>
              <a:t>Publish</a:t>
            </a:r>
            <a:r>
              <a:rPr b="1" lang="ko-KR" sz="2550" spc="-1" strike="noStrike">
                <a:solidFill>
                  <a:srgbClr val="12304a"/>
                </a:solidFill>
                <a:latin typeface="Calibri"/>
                <a:ea typeface="Calibri"/>
              </a:rPr>
              <a:t>와 </a:t>
            </a:r>
            <a:r>
              <a:rPr b="1" lang="en-US" sz="2550" spc="-1" strike="noStrike">
                <a:solidFill>
                  <a:srgbClr val="12304a"/>
                </a:solidFill>
                <a:latin typeface="Calibri"/>
                <a:ea typeface="Calibri"/>
              </a:rPr>
              <a:t>Receive</a:t>
            </a:r>
            <a:r>
              <a:rPr b="1" lang="ko-KR" sz="2550" spc="-1" strike="noStrike">
                <a:solidFill>
                  <a:srgbClr val="12304a"/>
                </a:solidFill>
                <a:latin typeface="Calibri"/>
                <a:ea typeface="Calibri"/>
              </a:rPr>
              <a:t>를 시험합니다</a:t>
            </a:r>
            <a:endParaRPr b="0" lang="en-US" sz="25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0" name=""/>
          <p:cNvSpPr/>
          <p:nvPr/>
        </p:nvSpPr>
        <p:spPr>
          <a:xfrm>
            <a:off x="609480" y="1047600"/>
            <a:ext cx="104738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채널 이름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, Message full type, payload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를 입력하고 송수신 결과를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history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에서 확인합니다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1" name=""/>
          <p:cNvSpPr/>
          <p:nvPr/>
        </p:nvSpPr>
        <p:spPr>
          <a:xfrm>
            <a:off x="11163240" y="304920"/>
            <a:ext cx="47268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</a:pPr>
            <a:r>
              <a:rPr b="1" lang="en-US" sz="800" spc="-1" strike="noStrike">
                <a:solidFill>
                  <a:srgbClr val="6b7c8f"/>
                </a:solidFill>
                <a:latin typeface="Malgun Gothic"/>
                <a:ea typeface="Calibri"/>
              </a:rPr>
              <a:t>15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2" name=""/>
          <p:cNvSpPr/>
          <p:nvPr/>
        </p:nvSpPr>
        <p:spPr>
          <a:xfrm>
            <a:off x="647640" y="1752480"/>
            <a:ext cx="5177880" cy="3520800"/>
          </a:xfrm>
          <a:prstGeom prst="roundRect">
            <a:avLst>
              <a:gd name="adj" fmla="val 2162"/>
            </a:avLst>
          </a:prstGeom>
          <a:solidFill>
            <a:srgbClr val="e6f6f3"/>
          </a:solidFill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293" name=""/>
          <p:cNvSpPr/>
          <p:nvPr/>
        </p:nvSpPr>
        <p:spPr>
          <a:xfrm>
            <a:off x="914400" y="2000160"/>
            <a:ext cx="152028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8b8b"/>
                </a:solidFill>
                <a:latin typeface="Calibri"/>
                <a:ea typeface="Calibri"/>
              </a:rPr>
              <a:t>PUBLISH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4" name=""/>
          <p:cNvSpPr/>
          <p:nvPr/>
        </p:nvSpPr>
        <p:spPr>
          <a:xfrm>
            <a:off x="952560" y="2610000"/>
            <a:ext cx="123480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2304a"/>
                </a:solidFill>
                <a:latin typeface="Calibri"/>
                <a:ea typeface="Calibri"/>
              </a:rPr>
              <a:t>Topic name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5" name=""/>
          <p:cNvSpPr/>
          <p:nvPr/>
        </p:nvSpPr>
        <p:spPr>
          <a:xfrm>
            <a:off x="2266920" y="2610000"/>
            <a:ext cx="304452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데이터를 보낼 채널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6" name=""/>
          <p:cNvSpPr/>
          <p:nvPr/>
        </p:nvSpPr>
        <p:spPr>
          <a:xfrm>
            <a:off x="952560" y="3295800"/>
            <a:ext cx="123480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2304a"/>
                </a:solidFill>
                <a:latin typeface="Calibri"/>
                <a:ea typeface="Calibri"/>
              </a:rPr>
              <a:t>Full type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7" name=""/>
          <p:cNvSpPr/>
          <p:nvPr/>
        </p:nvSpPr>
        <p:spPr>
          <a:xfrm>
            <a:off x="2266920" y="3295800"/>
            <a:ext cx="304452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사용할 </a:t>
            </a:r>
            <a:r>
              <a:rPr b="0" lang="en-US" sz="1200" spc="-1" strike="noStrike">
                <a:solidFill>
                  <a:srgbClr val="172b3a"/>
                </a:solidFill>
                <a:latin typeface="Calibri"/>
                <a:ea typeface="Calibri"/>
              </a:rPr>
              <a:t>Message </a:t>
            </a:r>
            <a:r>
              <a:rPr b="0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구조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8" name=""/>
          <p:cNvSpPr/>
          <p:nvPr/>
        </p:nvSpPr>
        <p:spPr>
          <a:xfrm>
            <a:off x="952560" y="3981600"/>
            <a:ext cx="123480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2304a"/>
                </a:solidFill>
                <a:latin typeface="Calibri"/>
                <a:ea typeface="Calibri"/>
              </a:rPr>
              <a:t>Payload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9" name=""/>
          <p:cNvSpPr/>
          <p:nvPr/>
        </p:nvSpPr>
        <p:spPr>
          <a:xfrm>
            <a:off x="2266920" y="3981600"/>
            <a:ext cx="304452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72b3a"/>
                </a:solidFill>
                <a:latin typeface="Calibri"/>
                <a:ea typeface="Calibri"/>
              </a:rPr>
              <a:t>Message</a:t>
            </a:r>
            <a:r>
              <a:rPr b="0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에 넣을 실제 값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0" name=""/>
          <p:cNvSpPr/>
          <p:nvPr/>
        </p:nvSpPr>
        <p:spPr>
          <a:xfrm>
            <a:off x="952560" y="4762440"/>
            <a:ext cx="1425240" cy="3204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01" name=""/>
          <p:cNvSpPr/>
          <p:nvPr/>
        </p:nvSpPr>
        <p:spPr>
          <a:xfrm>
            <a:off x="1028880" y="4791240"/>
            <a:ext cx="127260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8b8b"/>
                </a:solidFill>
                <a:latin typeface="Calibri"/>
                <a:ea typeface="Calibri"/>
              </a:rPr>
              <a:t>Publish</a:t>
            </a: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2" name=""/>
          <p:cNvSpPr/>
          <p:nvPr/>
        </p:nvSpPr>
        <p:spPr>
          <a:xfrm>
            <a:off x="2571840" y="4762440"/>
            <a:ext cx="285408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payload </a:t>
            </a:r>
            <a:r>
              <a:rPr b="1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변환 → </a:t>
            </a:r>
            <a:r>
              <a:rPr b="1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ROS2 </a:t>
            </a:r>
            <a:r>
              <a:rPr b="1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발행 → </a:t>
            </a:r>
            <a:r>
              <a:rPr b="1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history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3" name=""/>
          <p:cNvSpPr/>
          <p:nvPr/>
        </p:nvSpPr>
        <p:spPr>
          <a:xfrm>
            <a:off x="6362640" y="1752480"/>
            <a:ext cx="5177880" cy="3520800"/>
          </a:xfrm>
          <a:prstGeom prst="roundRect">
            <a:avLst>
              <a:gd name="adj" fmla="val 2162"/>
            </a:avLst>
          </a:prstGeom>
          <a:solidFill>
            <a:srgbClr val="eaf2fb"/>
          </a:solidFill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04" name=""/>
          <p:cNvSpPr/>
          <p:nvPr/>
        </p:nvSpPr>
        <p:spPr>
          <a:xfrm>
            <a:off x="6629400" y="2000160"/>
            <a:ext cx="152028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2304a"/>
                </a:solidFill>
                <a:latin typeface="Calibri"/>
                <a:ea typeface="Calibri"/>
              </a:rPr>
              <a:t>RECEIVE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5" name=""/>
          <p:cNvSpPr/>
          <p:nvPr/>
        </p:nvSpPr>
        <p:spPr>
          <a:xfrm>
            <a:off x="7677000" y="3124080"/>
            <a:ext cx="209520" cy="360"/>
          </a:xfrm>
          <a:prstGeom prst="line">
            <a:avLst/>
          </a:prstGeom>
          <a:ln w="19050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06" name=""/>
          <p:cNvSpPr/>
          <p:nvPr/>
        </p:nvSpPr>
        <p:spPr>
          <a:xfrm>
            <a:off x="6724800" y="2762280"/>
            <a:ext cx="948960" cy="72036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07" name=""/>
          <p:cNvSpPr/>
          <p:nvPr/>
        </p:nvSpPr>
        <p:spPr>
          <a:xfrm>
            <a:off x="6819840" y="2857680"/>
            <a:ext cx="758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Receive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start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8" name=""/>
          <p:cNvSpPr/>
          <p:nvPr/>
        </p:nvSpPr>
        <p:spPr>
          <a:xfrm>
            <a:off x="8839080" y="3124080"/>
            <a:ext cx="209520" cy="360"/>
          </a:xfrm>
          <a:prstGeom prst="line">
            <a:avLst/>
          </a:prstGeom>
          <a:ln w="19050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09" name=""/>
          <p:cNvSpPr/>
          <p:nvPr/>
        </p:nvSpPr>
        <p:spPr>
          <a:xfrm>
            <a:off x="7886880" y="2762280"/>
            <a:ext cx="948960" cy="72036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10" name=""/>
          <p:cNvSpPr/>
          <p:nvPr/>
        </p:nvSpPr>
        <p:spPr>
          <a:xfrm>
            <a:off x="7981920" y="2857680"/>
            <a:ext cx="758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30" spc="-1" strike="noStrike">
                <a:solidFill>
                  <a:srgbClr val="172b3a"/>
                </a:solidFill>
                <a:latin typeface="Calibri"/>
                <a:ea typeface="Calibri"/>
              </a:rPr>
              <a:t>메시지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30" spc="-1" strike="noStrike">
                <a:solidFill>
                  <a:srgbClr val="172b3a"/>
                </a:solidFill>
                <a:latin typeface="Calibri"/>
                <a:ea typeface="Calibri"/>
              </a:rPr>
              <a:t>수신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1" name=""/>
          <p:cNvSpPr/>
          <p:nvPr/>
        </p:nvSpPr>
        <p:spPr>
          <a:xfrm>
            <a:off x="10001160" y="3124080"/>
            <a:ext cx="209520" cy="360"/>
          </a:xfrm>
          <a:prstGeom prst="line">
            <a:avLst/>
          </a:prstGeom>
          <a:ln w="19050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12" name=""/>
          <p:cNvSpPr/>
          <p:nvPr/>
        </p:nvSpPr>
        <p:spPr>
          <a:xfrm>
            <a:off x="9048600" y="2762280"/>
            <a:ext cx="948960" cy="72036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13" name=""/>
          <p:cNvSpPr/>
          <p:nvPr/>
        </p:nvSpPr>
        <p:spPr>
          <a:xfrm>
            <a:off x="9144000" y="2857680"/>
            <a:ext cx="758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history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30" spc="-1" strike="noStrike">
                <a:solidFill>
                  <a:srgbClr val="172b3a"/>
                </a:solidFill>
                <a:latin typeface="Calibri"/>
                <a:ea typeface="Calibri"/>
              </a:rPr>
              <a:t>저장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4" name=""/>
          <p:cNvSpPr/>
          <p:nvPr/>
        </p:nvSpPr>
        <p:spPr>
          <a:xfrm>
            <a:off x="10210680" y="2762280"/>
            <a:ext cx="948960" cy="72036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15" name=""/>
          <p:cNvSpPr/>
          <p:nvPr/>
        </p:nvSpPr>
        <p:spPr>
          <a:xfrm>
            <a:off x="10306080" y="2857680"/>
            <a:ext cx="758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Receive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stop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6" name=""/>
          <p:cNvSpPr/>
          <p:nvPr/>
        </p:nvSpPr>
        <p:spPr>
          <a:xfrm>
            <a:off x="6781680" y="4095720"/>
            <a:ext cx="4282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280" spc="-1" strike="noStrike">
                <a:solidFill>
                  <a:srgbClr val="172b3a"/>
                </a:solidFill>
                <a:latin typeface="Calibri"/>
                <a:ea typeface="Calibri"/>
              </a:rPr>
              <a:t>사용자가 시작한 구독만 유지하며</a:t>
            </a:r>
            <a:r>
              <a:rPr b="1" lang="en-US" sz="1280" spc="-1" strike="noStrike">
                <a:solidFill>
                  <a:srgbClr val="172b3a"/>
                </a:solidFill>
                <a:latin typeface="Calibri"/>
                <a:ea typeface="Calibri"/>
              </a:rPr>
              <a:t>, stop </a:t>
            </a:r>
            <a:r>
              <a:rPr b="1" lang="ko-KR" sz="1280" spc="-1" strike="noStrike">
                <a:solidFill>
                  <a:srgbClr val="172b3a"/>
                </a:solidFill>
                <a:latin typeface="Calibri"/>
                <a:ea typeface="Calibri"/>
              </a:rPr>
              <a:t>시 </a:t>
            </a:r>
            <a:r>
              <a:rPr b="1" lang="en-US" sz="1280" spc="-1" strike="noStrike">
                <a:solidFill>
                  <a:srgbClr val="172b3a"/>
                </a:solidFill>
                <a:latin typeface="Calibri"/>
                <a:ea typeface="Calibri"/>
              </a:rPr>
              <a:t>subscription</a:t>
            </a:r>
            <a:r>
              <a:rPr b="1" lang="ko-KR" sz="1280" spc="-1" strike="noStrike">
                <a:solidFill>
                  <a:srgbClr val="172b3a"/>
                </a:solidFill>
                <a:latin typeface="Calibri"/>
                <a:ea typeface="Calibri"/>
              </a:rPr>
              <a:t>을 정리합니다</a:t>
            </a:r>
            <a:r>
              <a:rPr b="1" lang="en-US" sz="1280" spc="-1" strike="noStrike">
                <a:solidFill>
                  <a:srgbClr val="172b3a"/>
                </a:solidFill>
                <a:latin typeface="Calibri"/>
                <a:ea typeface="Calibri"/>
              </a:rPr>
              <a:t>.</a:t>
            </a:r>
            <a:endParaRPr b="0" lang="en-US" sz="12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7" name=""/>
          <p:cNvSpPr/>
          <p:nvPr/>
        </p:nvSpPr>
        <p:spPr>
          <a:xfrm>
            <a:off x="1295280" y="5619600"/>
            <a:ext cx="95976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Frontend </a:t>
            </a:r>
            <a:r>
              <a:rPr b="1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입력 → </a:t>
            </a:r>
            <a:r>
              <a:rPr b="1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topic execution router → InterfaceReceiveRuntime → value converter → ROS2 → history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8" name=""/>
          <p:cNvSpPr/>
          <p:nvPr/>
        </p:nvSpPr>
        <p:spPr>
          <a:xfrm>
            <a:off x="609480" y="6476760"/>
            <a:ext cx="10972800" cy="360"/>
          </a:xfrm>
          <a:prstGeom prst="line">
            <a:avLst/>
          </a:prstGeom>
          <a:ln w="9525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19" name=""/>
          <p:cNvSpPr/>
          <p:nvPr/>
        </p:nvSpPr>
        <p:spPr>
          <a:xfrm>
            <a:off x="609480" y="6534000"/>
            <a:ext cx="1096920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750" spc="-1" strike="noStrike">
                <a:solidFill>
                  <a:srgbClr val="5b6b78"/>
                </a:solidFill>
                <a:latin typeface="Calibri"/>
                <a:ea typeface="Calibri"/>
              </a:rPr>
              <a:t>근거</a:t>
            </a:r>
            <a:r>
              <a:rPr b="0" lang="en-US" sz="750" spc="-1" strike="noStrike">
                <a:solidFill>
                  <a:srgbClr val="5b6b78"/>
                </a:solidFill>
                <a:latin typeface="Calibri"/>
                <a:ea typeface="Calibri"/>
              </a:rPr>
              <a:t>: routers/topic_execution.py · InterfaceReceiveRuntime · value_converter.py · InterfaceLabPage.jsx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0" name="Rectangle 8"/>
          <p:cNvSpPr/>
          <p:nvPr/>
        </p:nvSpPr>
        <p:spPr>
          <a:xfrm>
            <a:off x="0" y="0"/>
            <a:ext cx="12188520" cy="69480"/>
          </a:xfrm>
          <a:prstGeom prst="rect">
            <a:avLst/>
          </a:prstGeom>
          <a:solidFill>
            <a:srgbClr val="00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Rectangle 1"/>
          <p:cNvSpPr/>
          <p:nvPr/>
        </p:nvSpPr>
        <p:spPr>
          <a:xfrm>
            <a:off x="0" y="0"/>
            <a:ext cx="12188520" cy="69480"/>
          </a:xfrm>
          <a:prstGeom prst="rect">
            <a:avLst/>
          </a:prstGeom>
          <a:solidFill>
            <a:srgbClr val="00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22" name="TextBox 2"/>
          <p:cNvSpPr/>
          <p:nvPr/>
        </p:nvSpPr>
        <p:spPr>
          <a:xfrm>
            <a:off x="790920" y="146160"/>
            <a:ext cx="84852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07bbe"/>
                </a:solidFill>
                <a:latin typeface="Calibri"/>
                <a:ea typeface="Calibri"/>
              </a:rPr>
              <a:t>INTERFACE LAB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3" name="TextBox 3"/>
          <p:cNvSpPr/>
          <p:nvPr/>
        </p:nvSpPr>
        <p:spPr>
          <a:xfrm>
            <a:off x="11277720" y="146160"/>
            <a:ext cx="3002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800" spc="-1" strike="noStrike">
                <a:solidFill>
                  <a:srgbClr val="6b7c8f"/>
                </a:solidFill>
                <a:latin typeface="Malgun Gothic"/>
                <a:ea typeface="Calibri"/>
              </a:rPr>
              <a:t>16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4" name="TextBox 4"/>
          <p:cNvSpPr/>
          <p:nvPr/>
        </p:nvSpPr>
        <p:spPr>
          <a:xfrm>
            <a:off x="2291760" y="384120"/>
            <a:ext cx="7447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Service Call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과 </a:t>
            </a: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Action Goal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은 사용자가 명시적으로 실행합니다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5" name="TextBox 5"/>
          <p:cNvSpPr/>
          <p:nvPr/>
        </p:nvSpPr>
        <p:spPr>
          <a:xfrm>
            <a:off x="3133080" y="822960"/>
            <a:ext cx="54363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full type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으로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Goal schema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를 만들고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, 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입력값을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ROS2 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객체로 변환해 실행 결과를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history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에 저장합니다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.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6" name="Rounded Rectangle 9"/>
          <p:cNvSpPr/>
          <p:nvPr/>
        </p:nvSpPr>
        <p:spPr>
          <a:xfrm>
            <a:off x="777240" y="612000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0094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9488"/>
                </a:solidFill>
                <a:latin typeface="Calibri"/>
                <a:ea typeface="Calibri"/>
              </a:rPr>
              <a:t>Action Goal </a:t>
            </a:r>
            <a:r>
              <a:rPr b="1" lang="ko-KR" sz="850" spc="-1" strike="noStrike">
                <a:solidFill>
                  <a:srgbClr val="009488"/>
                </a:solidFill>
                <a:latin typeface="Calibri"/>
                <a:ea typeface="Calibri"/>
              </a:rPr>
              <a:t>입력 폼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7" name="Rounded Rectangle 10"/>
          <p:cNvSpPr/>
          <p:nvPr/>
        </p:nvSpPr>
        <p:spPr>
          <a:xfrm>
            <a:off x="4367880" y="612000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007bb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7bbe"/>
                </a:solidFill>
                <a:latin typeface="Calibri"/>
                <a:ea typeface="Calibri"/>
              </a:rPr>
              <a:t>Feedback / Result </a:t>
            </a:r>
            <a:r>
              <a:rPr b="1" lang="ko-KR" sz="850" spc="-1" strike="noStrike">
                <a:solidFill>
                  <a:srgbClr val="007bbe"/>
                </a:solidFill>
                <a:latin typeface="Calibri"/>
                <a:ea typeface="Calibri"/>
              </a:rPr>
              <a:t>수신 영역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8" name="Rounded Rectangle 11"/>
          <p:cNvSpPr/>
          <p:nvPr/>
        </p:nvSpPr>
        <p:spPr>
          <a:xfrm>
            <a:off x="7958160" y="6120000"/>
            <a:ext cx="3422520" cy="28908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>
            <a:solidFill>
              <a:srgbClr val="f0aa3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0aa3c"/>
                </a:solidFill>
                <a:latin typeface="Calibri"/>
                <a:ea typeface="Calibri"/>
              </a:rPr>
              <a:t>history</a:t>
            </a: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로 실행 결과 확인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9" name="TextBox 12"/>
          <p:cNvSpPr/>
          <p:nvPr/>
        </p:nvSpPr>
        <p:spPr>
          <a:xfrm>
            <a:off x="457200" y="6565320"/>
            <a:ext cx="112435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실제 화면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: Interface Lab Action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실행 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/ Goal schema /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수신 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history</a:t>
            </a:r>
            <a:endParaRPr b="0" lang="en-US" sz="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0" name="Rectangle 9"/>
          <p:cNvSpPr/>
          <p:nvPr/>
        </p:nvSpPr>
        <p:spPr>
          <a:xfrm>
            <a:off x="0" y="0"/>
            <a:ext cx="12188520" cy="69480"/>
          </a:xfrm>
          <a:prstGeom prst="rect">
            <a:avLst/>
          </a:prstGeom>
          <a:solidFill>
            <a:srgbClr val="00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331" name="" descr=""/>
          <p:cNvPicPr/>
          <p:nvPr/>
        </p:nvPicPr>
        <p:blipFill>
          <a:blip r:embed="rId1"/>
          <a:stretch/>
        </p:blipFill>
        <p:spPr>
          <a:xfrm>
            <a:off x="360000" y="1080000"/>
            <a:ext cx="11151000" cy="485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Box 1"/>
          <p:cNvSpPr/>
          <p:nvPr/>
        </p:nvSpPr>
        <p:spPr>
          <a:xfrm>
            <a:off x="502920" y="255960"/>
            <a:ext cx="20088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563eb"/>
                </a:solidFill>
                <a:latin typeface="Aptos"/>
                <a:ea typeface="Calibri"/>
              </a:rPr>
              <a:t>TROUBLESHOOTING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3" name="TextBox 2"/>
          <p:cNvSpPr/>
          <p:nvPr/>
        </p:nvSpPr>
        <p:spPr>
          <a:xfrm>
            <a:off x="10716840" y="274320"/>
            <a:ext cx="50004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800" spc="-1" strike="noStrike">
                <a:solidFill>
                  <a:srgbClr val="6b7c8f"/>
                </a:solidFill>
                <a:latin typeface="Malgun Gothic"/>
                <a:ea typeface="Calibri"/>
              </a:rPr>
              <a:t>17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4" name="TextBox 3"/>
          <p:cNvSpPr/>
          <p:nvPr/>
        </p:nvSpPr>
        <p:spPr>
          <a:xfrm>
            <a:off x="502920" y="567000"/>
            <a:ext cx="98726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f172a"/>
                </a:solidFill>
                <a:latin typeface="Aptos"/>
                <a:ea typeface="Calibri"/>
              </a:rPr>
              <a:t>CASE 1 · </a:t>
            </a:r>
            <a:r>
              <a:rPr b="1" lang="ko-KR" sz="2500" spc="-1" strike="noStrike">
                <a:solidFill>
                  <a:srgbClr val="0f172a"/>
                </a:solidFill>
                <a:latin typeface="Aptos"/>
                <a:ea typeface="Calibri"/>
              </a:rPr>
              <a:t>실제 장비 </a:t>
            </a:r>
            <a:r>
              <a:rPr b="1" lang="en-US" sz="2500" spc="-1" strike="noStrike">
                <a:solidFill>
                  <a:srgbClr val="0f172a"/>
                </a:solidFill>
                <a:latin typeface="Aptos"/>
                <a:ea typeface="Calibri"/>
              </a:rPr>
              <a:t>Interface </a:t>
            </a:r>
            <a:r>
              <a:rPr b="1" lang="ko-KR" sz="2500" spc="-1" strike="noStrike">
                <a:solidFill>
                  <a:srgbClr val="0f172a"/>
                </a:solidFill>
                <a:latin typeface="Aptos"/>
                <a:ea typeface="Calibri"/>
              </a:rPr>
              <a:t>패키지 의존성</a:t>
            </a:r>
            <a:endParaRPr b="0" lang="en-US" sz="2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5" name="TextBox 4"/>
          <p:cNvSpPr/>
          <p:nvPr/>
        </p:nvSpPr>
        <p:spPr>
          <a:xfrm>
            <a:off x="502920" y="1005840"/>
            <a:ext cx="1023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ko-KR" sz="1200" spc="-1" strike="noStrike">
                <a:solidFill>
                  <a:srgbClr val="475569"/>
                </a:solidFill>
                <a:latin typeface="Aptos"/>
                <a:ea typeface="Calibri"/>
              </a:rPr>
              <a:t>타입 정의뿐 아니라 원본 패키지 구조와 의존성까지 있어야 </a:t>
            </a:r>
            <a:r>
              <a:rPr b="0" lang="en-US" sz="1200" spc="-1" strike="noStrike">
                <a:solidFill>
                  <a:srgbClr val="475569"/>
                </a:solidFill>
                <a:latin typeface="Aptos"/>
                <a:ea typeface="Calibri"/>
              </a:rPr>
              <a:t>build · import · </a:t>
            </a:r>
            <a:r>
              <a:rPr b="0" lang="ko-KR" sz="1200" spc="-1" strike="noStrike">
                <a:solidFill>
                  <a:srgbClr val="475569"/>
                </a:solidFill>
                <a:latin typeface="Aptos"/>
                <a:ea typeface="Calibri"/>
              </a:rPr>
              <a:t>통신이 가능했습니다</a:t>
            </a:r>
            <a:r>
              <a:rPr b="0" lang="en-US" sz="1200" spc="-1" strike="noStrike">
                <a:solidFill>
                  <a:srgbClr val="475569"/>
                </a:solidFill>
                <a:latin typeface="Aptos"/>
                <a:ea typeface="Calibri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6" name="Rounded Rectangle 5"/>
          <p:cNvSpPr/>
          <p:nvPr/>
        </p:nvSpPr>
        <p:spPr>
          <a:xfrm>
            <a:off x="502920" y="1463040"/>
            <a:ext cx="2923200" cy="9115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8890">
            <a:solidFill>
              <a:srgbClr val="cbd5e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37" name="TextBox 6"/>
          <p:cNvSpPr/>
          <p:nvPr/>
        </p:nvSpPr>
        <p:spPr>
          <a:xfrm>
            <a:off x="631080" y="1554480"/>
            <a:ext cx="266724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ko-KR" sz="1000" spc="-1" strike="noStrike">
                <a:solidFill>
                  <a:srgbClr val="ef4444"/>
                </a:solidFill>
                <a:latin typeface="Aptos"/>
                <a:ea typeface="Calibri"/>
              </a:rPr>
              <a:t>문제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8" name="TextBox 7"/>
          <p:cNvSpPr/>
          <p:nvPr/>
        </p:nvSpPr>
        <p:spPr>
          <a:xfrm>
            <a:off x="631080" y="1847160"/>
            <a:ext cx="26672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실제 장비의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ROS2 Interface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를 받았지만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,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대시보드 환경에는 해당 패키지가 없어 정확한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Service·Action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타입을 불러올 수 없었습니다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.</a:t>
            </a:r>
            <a:endParaRPr b="0" lang="en-US" sz="10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9" name="Rounded Rectangle 8"/>
          <p:cNvSpPr/>
          <p:nvPr/>
        </p:nvSpPr>
        <p:spPr>
          <a:xfrm>
            <a:off x="502920" y="2514600"/>
            <a:ext cx="2923200" cy="11401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8890">
            <a:solidFill>
              <a:srgbClr val="cbd5e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40" name="TextBox 9"/>
          <p:cNvSpPr/>
          <p:nvPr/>
        </p:nvSpPr>
        <p:spPr>
          <a:xfrm>
            <a:off x="631080" y="2606040"/>
            <a:ext cx="266724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ko-KR" sz="1000" spc="-1" strike="noStrike">
                <a:solidFill>
                  <a:srgbClr val="f59e0b"/>
                </a:solidFill>
                <a:latin typeface="Aptos"/>
                <a:ea typeface="Calibri"/>
              </a:rPr>
              <a:t>원인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1" name="TextBox 10"/>
          <p:cNvSpPr/>
          <p:nvPr/>
        </p:nvSpPr>
        <p:spPr>
          <a:xfrm>
            <a:off x="631080" y="2898720"/>
            <a:ext cx="266724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사용자 정의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Interface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는 타입 이름만으로 사용할 수 없습니다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. msg/srv/action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정의와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package.xml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의존성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, CMakeLists.txt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빌드 설정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,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원본 패키지명이 함께 필요했습니다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.</a:t>
            </a:r>
            <a:endParaRPr b="0" lang="en-US" sz="10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2" name="Rounded Rectangle 11"/>
          <p:cNvSpPr/>
          <p:nvPr/>
        </p:nvSpPr>
        <p:spPr>
          <a:xfrm>
            <a:off x="502920" y="3794760"/>
            <a:ext cx="2923200" cy="10627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8890">
            <a:solidFill>
              <a:srgbClr val="cbd5e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43" name="TextBox 12"/>
          <p:cNvSpPr/>
          <p:nvPr/>
        </p:nvSpPr>
        <p:spPr>
          <a:xfrm>
            <a:off x="631080" y="3886200"/>
            <a:ext cx="266724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ko-KR" sz="1000" spc="-1" strike="noStrike">
                <a:solidFill>
                  <a:srgbClr val="0ea5a4"/>
                </a:solidFill>
                <a:latin typeface="Aptos"/>
                <a:ea typeface="Calibri"/>
              </a:rPr>
              <a:t>해결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4" name="TextBox 13"/>
          <p:cNvSpPr/>
          <p:nvPr/>
        </p:nvSpPr>
        <p:spPr>
          <a:xfrm>
            <a:off x="631080" y="4178880"/>
            <a:ext cx="266724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장비별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Interface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패키지를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ZIP/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폴더 단위로 업로드하고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, build/apply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와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import-check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를 거쳐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Backend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가 실제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Python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타입을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import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하도록 구성했습니다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.</a:t>
            </a:r>
            <a:endParaRPr b="0" lang="en-US" sz="10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5" name="Rounded Rectangle 14"/>
          <p:cNvSpPr/>
          <p:nvPr/>
        </p:nvSpPr>
        <p:spPr>
          <a:xfrm>
            <a:off x="494280" y="5040000"/>
            <a:ext cx="2923200" cy="8629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8890">
            <a:solidFill>
              <a:srgbClr val="cbd5e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46" name="TextBox 15"/>
          <p:cNvSpPr/>
          <p:nvPr/>
        </p:nvSpPr>
        <p:spPr>
          <a:xfrm>
            <a:off x="631080" y="5114880"/>
            <a:ext cx="266724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ko-KR" sz="1000" spc="-1" strike="noStrike">
                <a:solidFill>
                  <a:srgbClr val="10b981"/>
                </a:solidFill>
                <a:latin typeface="Aptos"/>
                <a:ea typeface="Calibri"/>
              </a:rPr>
              <a:t>결과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7" name="TextBox 16"/>
          <p:cNvSpPr/>
          <p:nvPr/>
        </p:nvSpPr>
        <p:spPr>
          <a:xfrm>
            <a:off x="631080" y="5321880"/>
            <a:ext cx="26672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Aptos"/>
                <a:ea typeface="Calibri"/>
              </a:rPr>
              <a:t>Service·Action </a:t>
            </a:r>
            <a:r>
              <a:rPr b="0" lang="ko-KR" sz="1000" spc="-1" strike="noStrike">
                <a:solidFill>
                  <a:srgbClr val="0f172a"/>
                </a:solidFill>
                <a:latin typeface="Aptos"/>
                <a:ea typeface="Calibri"/>
              </a:rPr>
              <a:t>타입 인식</a:t>
            </a:r>
            <a:r>
              <a:rPr b="0" lang="en-US" sz="1000" spc="-1" strike="noStrike">
                <a:solidFill>
                  <a:srgbClr val="0f172a"/>
                </a:solidFill>
                <a:latin typeface="Aptos"/>
                <a:ea typeface="Calibri"/>
              </a:rPr>
              <a:t>, Feedback/Result </a:t>
            </a:r>
            <a:r>
              <a:rPr b="0" lang="ko-KR" sz="1000" spc="-1" strike="noStrike">
                <a:solidFill>
                  <a:srgbClr val="0f172a"/>
                </a:solidFill>
                <a:latin typeface="Aptos"/>
                <a:ea typeface="Calibri"/>
              </a:rPr>
              <a:t>해석</a:t>
            </a:r>
            <a:r>
              <a:rPr b="0" lang="en-US" sz="1000" spc="-1" strike="noStrike">
                <a:solidFill>
                  <a:srgbClr val="0f172a"/>
                </a:solidFill>
                <a:latin typeface="Aptos"/>
                <a:ea typeface="Calibri"/>
              </a:rPr>
              <a:t>, </a:t>
            </a:r>
            <a:r>
              <a:rPr b="0" lang="ko-KR" sz="1000" spc="-1" strike="noStrike">
                <a:solidFill>
                  <a:srgbClr val="0f172a"/>
                </a:solidFill>
                <a:latin typeface="Aptos"/>
                <a:ea typeface="Calibri"/>
              </a:rPr>
              <a:t>장비별 패키지 확장이 가능해졌습니다</a:t>
            </a:r>
            <a:r>
              <a:rPr b="0" lang="en-US" sz="1000" spc="-1" strike="noStrike">
                <a:solidFill>
                  <a:srgbClr val="0f172a"/>
                </a:solidFill>
                <a:latin typeface="Aptos"/>
                <a:ea typeface="Calibri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8" name="TextBox 18"/>
          <p:cNvSpPr/>
          <p:nvPr/>
        </p:nvSpPr>
        <p:spPr>
          <a:xfrm>
            <a:off x="3794760" y="4316040"/>
            <a:ext cx="73580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ko-KR" sz="950" spc="-1" strike="noStrike">
                <a:solidFill>
                  <a:srgbClr val="475569"/>
                </a:solidFill>
                <a:latin typeface="Aptos"/>
                <a:ea typeface="Calibri"/>
              </a:rPr>
              <a:t>실제 화면</a:t>
            </a:r>
            <a:r>
              <a:rPr b="0" lang="en-US" sz="950" spc="-1" strike="noStrike">
                <a:solidFill>
                  <a:srgbClr val="475569"/>
                </a:solidFill>
                <a:latin typeface="Aptos"/>
                <a:ea typeface="Calibri"/>
              </a:rPr>
              <a:t>: Uploaded Interface Packages / rths_interfaces / msg·srv import</a:t>
            </a:r>
            <a:r>
              <a:rPr b="0" lang="ko-KR" sz="950" spc="-1" strike="noStrike">
                <a:solidFill>
                  <a:srgbClr val="475569"/>
                </a:solidFill>
                <a:latin typeface="Aptos"/>
                <a:ea typeface="Calibri"/>
              </a:rPr>
              <a:t>됨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9" name="Rounded Rectangle 19"/>
          <p:cNvSpPr/>
          <p:nvPr/>
        </p:nvSpPr>
        <p:spPr>
          <a:xfrm>
            <a:off x="3931920" y="4864680"/>
            <a:ext cx="820080" cy="5274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0ea5a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50" name="TextBox 20"/>
          <p:cNvSpPr/>
          <p:nvPr/>
        </p:nvSpPr>
        <p:spPr>
          <a:xfrm>
            <a:off x="3977640" y="4985280"/>
            <a:ext cx="72864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ko-KR" sz="950" spc="-1" strike="noStrike">
                <a:solidFill>
                  <a:srgbClr val="0f172a"/>
                </a:solidFill>
                <a:latin typeface="Aptos"/>
                <a:ea typeface="Calibri"/>
              </a:rPr>
              <a:t>패키지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  <a:p>
            <a:pPr algn="ctr">
              <a:lnSpc>
                <a:spcPct val="100000"/>
              </a:lnSpc>
            </a:pPr>
            <a:r>
              <a:rPr b="1" lang="ko-KR" sz="950" spc="-1" strike="noStrike">
                <a:solidFill>
                  <a:srgbClr val="0f172a"/>
                </a:solidFill>
                <a:latin typeface="Aptos"/>
                <a:ea typeface="Calibri"/>
              </a:rPr>
              <a:t>업로드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1" name="Rounded Rectangle 21"/>
          <p:cNvSpPr/>
          <p:nvPr/>
        </p:nvSpPr>
        <p:spPr>
          <a:xfrm>
            <a:off x="5074920" y="4864680"/>
            <a:ext cx="820080" cy="5274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0ea5a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52" name="TextBox 22"/>
          <p:cNvSpPr/>
          <p:nvPr/>
        </p:nvSpPr>
        <p:spPr>
          <a:xfrm>
            <a:off x="5120640" y="4985280"/>
            <a:ext cx="72864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colcon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build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3" name="Rounded Rectangle 23"/>
          <p:cNvSpPr/>
          <p:nvPr/>
        </p:nvSpPr>
        <p:spPr>
          <a:xfrm>
            <a:off x="6217920" y="4864680"/>
            <a:ext cx="820080" cy="5274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0ea5a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54" name="TextBox 24"/>
          <p:cNvSpPr/>
          <p:nvPr/>
        </p:nvSpPr>
        <p:spPr>
          <a:xfrm>
            <a:off x="6263640" y="4985280"/>
            <a:ext cx="72864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install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  <a:p>
            <a:pPr algn="ctr">
              <a:lnSpc>
                <a:spcPct val="100000"/>
              </a:lnSpc>
            </a:pPr>
            <a:r>
              <a:rPr b="1" lang="ko-KR" sz="950" spc="-1" strike="noStrike">
                <a:solidFill>
                  <a:srgbClr val="0f172a"/>
                </a:solidFill>
                <a:latin typeface="Aptos"/>
                <a:ea typeface="Calibri"/>
              </a:rPr>
              <a:t>반영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5" name="Rounded Rectangle 25"/>
          <p:cNvSpPr/>
          <p:nvPr/>
        </p:nvSpPr>
        <p:spPr>
          <a:xfrm>
            <a:off x="7360920" y="4864680"/>
            <a:ext cx="820080" cy="5274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0ea5a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56" name="TextBox 26"/>
          <p:cNvSpPr/>
          <p:nvPr/>
        </p:nvSpPr>
        <p:spPr>
          <a:xfrm>
            <a:off x="7406640" y="4985280"/>
            <a:ext cx="72864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import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  <a:p>
            <a:pPr algn="ctr">
              <a:lnSpc>
                <a:spcPct val="100000"/>
              </a:lnSpc>
            </a:pPr>
            <a:r>
              <a:rPr b="1" lang="ko-KR" sz="950" spc="-1" strike="noStrike">
                <a:solidFill>
                  <a:srgbClr val="0f172a"/>
                </a:solidFill>
                <a:latin typeface="Aptos"/>
                <a:ea typeface="Calibri"/>
              </a:rPr>
              <a:t>확인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7" name="Rounded Rectangle 27"/>
          <p:cNvSpPr/>
          <p:nvPr/>
        </p:nvSpPr>
        <p:spPr>
          <a:xfrm>
            <a:off x="8503920" y="4864680"/>
            <a:ext cx="820080" cy="5274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0ea5a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58" name="TextBox 28"/>
          <p:cNvSpPr/>
          <p:nvPr/>
        </p:nvSpPr>
        <p:spPr>
          <a:xfrm>
            <a:off x="8549640" y="4985280"/>
            <a:ext cx="72864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ko-KR" sz="950" spc="-1" strike="noStrike">
                <a:solidFill>
                  <a:srgbClr val="0f172a"/>
                </a:solidFill>
                <a:latin typeface="Aptos"/>
                <a:ea typeface="Calibri"/>
              </a:rPr>
              <a:t>실행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  <a:p>
            <a:pPr algn="ctr">
              <a:lnSpc>
                <a:spcPct val="100000"/>
              </a:lnSpc>
            </a:pPr>
            <a:r>
              <a:rPr b="1" lang="ko-KR" sz="950" spc="-1" strike="noStrike">
                <a:solidFill>
                  <a:srgbClr val="0f172a"/>
                </a:solidFill>
                <a:latin typeface="Aptos"/>
                <a:ea typeface="Calibri"/>
              </a:rPr>
              <a:t>가능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359" name="Connector 29"/>
          <p:cNvCxnSpPr/>
          <p:nvPr/>
        </p:nvCxnSpPr>
        <p:spPr>
          <a:xfrm>
            <a:off x="4772880" y="5129640"/>
            <a:ext cx="259200" cy="2880"/>
          </a:xfrm>
          <a:prstGeom prst="straightConnector1">
            <a:avLst/>
          </a:prstGeom>
          <a:ln w="0">
            <a:solidFill>
              <a:srgbClr val="0ea5a4"/>
            </a:solidFill>
          </a:ln>
        </p:spPr>
      </p:cxnSp>
      <p:cxnSp>
        <p:nvCxnSpPr>
          <p:cNvPr id="360" name="Connector 30"/>
          <p:cNvCxnSpPr/>
          <p:nvPr/>
        </p:nvCxnSpPr>
        <p:spPr>
          <a:xfrm>
            <a:off x="5915880" y="5129640"/>
            <a:ext cx="259200" cy="2880"/>
          </a:xfrm>
          <a:prstGeom prst="straightConnector1">
            <a:avLst/>
          </a:prstGeom>
          <a:ln w="0">
            <a:solidFill>
              <a:srgbClr val="0ea5a4"/>
            </a:solidFill>
          </a:ln>
        </p:spPr>
      </p:cxnSp>
      <p:cxnSp>
        <p:nvCxnSpPr>
          <p:cNvPr id="361" name="Connector 31"/>
          <p:cNvCxnSpPr/>
          <p:nvPr/>
        </p:nvCxnSpPr>
        <p:spPr>
          <a:xfrm>
            <a:off x="7058880" y="5129640"/>
            <a:ext cx="259200" cy="2880"/>
          </a:xfrm>
          <a:prstGeom prst="straightConnector1">
            <a:avLst/>
          </a:prstGeom>
          <a:ln w="0">
            <a:solidFill>
              <a:srgbClr val="0ea5a4"/>
            </a:solidFill>
          </a:ln>
        </p:spPr>
      </p:cxnSp>
      <p:cxnSp>
        <p:nvCxnSpPr>
          <p:cNvPr id="362" name="Connector 32"/>
          <p:cNvCxnSpPr/>
          <p:nvPr/>
        </p:nvCxnSpPr>
        <p:spPr>
          <a:xfrm>
            <a:off x="8201880" y="5129640"/>
            <a:ext cx="259200" cy="2880"/>
          </a:xfrm>
          <a:prstGeom prst="straightConnector1">
            <a:avLst/>
          </a:prstGeom>
          <a:ln w="0">
            <a:solidFill>
              <a:srgbClr val="0ea5a4"/>
            </a:solidFill>
          </a:ln>
        </p:spPr>
      </p:cxnSp>
      <p:sp>
        <p:nvSpPr>
          <p:cNvPr id="363" name="TextBox 33"/>
          <p:cNvSpPr/>
          <p:nvPr/>
        </p:nvSpPr>
        <p:spPr>
          <a:xfrm>
            <a:off x="3794760" y="5632560"/>
            <a:ext cx="731232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ko-KR" sz="1000" spc="-1" strike="noStrike">
                <a:solidFill>
                  <a:srgbClr val="0f172a"/>
                </a:solidFill>
                <a:latin typeface="Aptos"/>
                <a:ea typeface="Calibri"/>
              </a:rPr>
              <a:t>핵심</a:t>
            </a:r>
            <a:r>
              <a:rPr b="1" lang="en-US" sz="1000" spc="-1" strike="noStrike">
                <a:solidFill>
                  <a:srgbClr val="0f172a"/>
                </a:solidFill>
                <a:latin typeface="Aptos"/>
                <a:ea typeface="Calibri"/>
              </a:rPr>
              <a:t>: .msg/.srv/.action</a:t>
            </a:r>
            <a:r>
              <a:rPr b="1" lang="ko-KR" sz="1000" spc="-1" strike="noStrike">
                <a:solidFill>
                  <a:srgbClr val="0f172a"/>
                </a:solidFill>
                <a:latin typeface="Aptos"/>
                <a:ea typeface="Calibri"/>
              </a:rPr>
              <a:t>은 타입 정의이고</a:t>
            </a:r>
            <a:r>
              <a:rPr b="1" lang="en-US" sz="1000" spc="-1" strike="noStrike">
                <a:solidFill>
                  <a:srgbClr val="0f172a"/>
                </a:solidFill>
                <a:latin typeface="Aptos"/>
                <a:ea typeface="Calibri"/>
              </a:rPr>
              <a:t>, package.xml</a:t>
            </a:r>
            <a:r>
              <a:rPr b="1" lang="ko-KR" sz="1000" spc="-1" strike="noStrike">
                <a:solidFill>
                  <a:srgbClr val="0f172a"/>
                </a:solidFill>
                <a:latin typeface="Aptos"/>
                <a:ea typeface="Calibri"/>
              </a:rPr>
              <a:t>과 </a:t>
            </a:r>
            <a:r>
              <a:rPr b="1" lang="en-US" sz="1000" spc="-1" strike="noStrike">
                <a:solidFill>
                  <a:srgbClr val="0f172a"/>
                </a:solidFill>
                <a:latin typeface="Aptos"/>
                <a:ea typeface="Calibri"/>
              </a:rPr>
              <a:t>CMakeLists.txt</a:t>
            </a:r>
            <a:r>
              <a:rPr b="1" lang="ko-KR" sz="1000" spc="-1" strike="noStrike">
                <a:solidFill>
                  <a:srgbClr val="0f172a"/>
                </a:solidFill>
                <a:latin typeface="Aptos"/>
                <a:ea typeface="Calibri"/>
              </a:rPr>
              <a:t>는 의존성</a:t>
            </a:r>
            <a:r>
              <a:rPr b="1" lang="en-US" sz="1000" spc="-1" strike="noStrike">
                <a:solidFill>
                  <a:srgbClr val="0f172a"/>
                </a:solidFill>
                <a:latin typeface="Aptos"/>
                <a:ea typeface="Calibri"/>
              </a:rPr>
              <a:t>·</a:t>
            </a:r>
            <a:r>
              <a:rPr b="1" lang="ko-KR" sz="1000" spc="-1" strike="noStrike">
                <a:solidFill>
                  <a:srgbClr val="0f172a"/>
                </a:solidFill>
                <a:latin typeface="Aptos"/>
                <a:ea typeface="Calibri"/>
              </a:rPr>
              <a:t>빌드 방법을 담습니다</a:t>
            </a:r>
            <a:r>
              <a:rPr b="1" lang="en-US" sz="1000" spc="-1" strike="noStrike">
                <a:solidFill>
                  <a:srgbClr val="0f172a"/>
                </a:solidFill>
                <a:latin typeface="Aptos"/>
                <a:ea typeface="Calibri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364" name="" descr=""/>
          <p:cNvPicPr/>
          <p:nvPr/>
        </p:nvPicPr>
        <p:blipFill>
          <a:blip r:embed="rId1"/>
          <a:stretch/>
        </p:blipFill>
        <p:spPr>
          <a:xfrm>
            <a:off x="3703320" y="1440000"/>
            <a:ext cx="6194160" cy="2697480"/>
          </a:xfrm>
          <a:prstGeom prst="rect">
            <a:avLst/>
          </a:prstGeom>
          <a:ln w="0">
            <a:noFill/>
          </a:ln>
        </p:spPr>
      </p:pic>
      <p:sp>
        <p:nvSpPr>
          <p:cNvPr id="365" name="Rectangle 10"/>
          <p:cNvSpPr/>
          <p:nvPr/>
        </p:nvSpPr>
        <p:spPr>
          <a:xfrm>
            <a:off x="0" y="0"/>
            <a:ext cx="12188520" cy="69480"/>
          </a:xfrm>
          <a:prstGeom prst="rect">
            <a:avLst/>
          </a:prstGeom>
          <a:solidFill>
            <a:srgbClr val="00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TextBox 1"/>
          <p:cNvSpPr/>
          <p:nvPr/>
        </p:nvSpPr>
        <p:spPr>
          <a:xfrm>
            <a:off x="502920" y="255960"/>
            <a:ext cx="20088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563eb"/>
                </a:solidFill>
                <a:latin typeface="Aptos"/>
                <a:ea typeface="Calibri"/>
              </a:rPr>
              <a:t>TROUBLESHOOTING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7" name="TextBox 2"/>
          <p:cNvSpPr/>
          <p:nvPr/>
        </p:nvSpPr>
        <p:spPr>
          <a:xfrm>
            <a:off x="10716840" y="274320"/>
            <a:ext cx="50004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800" spc="-1" strike="noStrike">
                <a:solidFill>
                  <a:srgbClr val="6b7c8f"/>
                </a:solidFill>
                <a:latin typeface="Malgun Gothic"/>
                <a:ea typeface="Calibri"/>
              </a:rPr>
              <a:t>18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8" name="TextBox 3"/>
          <p:cNvSpPr/>
          <p:nvPr/>
        </p:nvSpPr>
        <p:spPr>
          <a:xfrm>
            <a:off x="502920" y="567000"/>
            <a:ext cx="98726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f172a"/>
                </a:solidFill>
                <a:latin typeface="Aptos"/>
                <a:ea typeface="Calibri"/>
              </a:rPr>
              <a:t>CASE 2 · FastAPI</a:t>
            </a:r>
            <a:r>
              <a:rPr b="1" lang="ko-KR" sz="2500" spc="-1" strike="noStrike">
                <a:solidFill>
                  <a:srgbClr val="0f172a"/>
                </a:solidFill>
                <a:latin typeface="Aptos"/>
                <a:ea typeface="Calibri"/>
              </a:rPr>
              <a:t>와 </a:t>
            </a:r>
            <a:r>
              <a:rPr b="1" lang="en-US" sz="2500" spc="-1" strike="noStrike">
                <a:solidFill>
                  <a:srgbClr val="0f172a"/>
                </a:solidFill>
                <a:latin typeface="Aptos"/>
                <a:ea typeface="Calibri"/>
              </a:rPr>
              <a:t>ROS2 spin </a:t>
            </a:r>
            <a:r>
              <a:rPr b="1" lang="ko-KR" sz="2500" spc="-1" strike="noStrike">
                <a:solidFill>
                  <a:srgbClr val="0f172a"/>
                </a:solidFill>
                <a:latin typeface="Aptos"/>
                <a:ea typeface="Calibri"/>
              </a:rPr>
              <a:t>실행 충돌 방지</a:t>
            </a:r>
            <a:endParaRPr b="0" lang="en-US" sz="2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9" name="TextBox 4"/>
          <p:cNvSpPr/>
          <p:nvPr/>
        </p:nvSpPr>
        <p:spPr>
          <a:xfrm>
            <a:off x="502920" y="1005840"/>
            <a:ext cx="10238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ko-KR" sz="1200" spc="-1" strike="noStrike">
                <a:solidFill>
                  <a:srgbClr val="475569"/>
                </a:solidFill>
                <a:latin typeface="Aptos"/>
                <a:ea typeface="Calibri"/>
              </a:rPr>
              <a:t>웹 서버 요청 처리와 </a:t>
            </a:r>
            <a:r>
              <a:rPr b="0" lang="en-US" sz="1200" spc="-1" strike="noStrike">
                <a:solidFill>
                  <a:srgbClr val="475569"/>
                </a:solidFill>
                <a:latin typeface="Aptos"/>
                <a:ea typeface="Calibri"/>
              </a:rPr>
              <a:t>ROS2 callback </a:t>
            </a:r>
            <a:r>
              <a:rPr b="0" lang="ko-KR" sz="1200" spc="-1" strike="noStrike">
                <a:solidFill>
                  <a:srgbClr val="475569"/>
                </a:solidFill>
                <a:latin typeface="Aptos"/>
                <a:ea typeface="Calibri"/>
              </a:rPr>
              <a:t>처리를 동시에 유지하기 위해 </a:t>
            </a:r>
            <a:r>
              <a:rPr b="0" lang="en-US" sz="1200" spc="-1" strike="noStrike">
                <a:solidFill>
                  <a:srgbClr val="475569"/>
                </a:solidFill>
                <a:latin typeface="Aptos"/>
                <a:ea typeface="Calibri"/>
              </a:rPr>
              <a:t>spin</a:t>
            </a:r>
            <a:r>
              <a:rPr b="0" lang="ko-KR" sz="1200" spc="-1" strike="noStrike">
                <a:solidFill>
                  <a:srgbClr val="475569"/>
                </a:solidFill>
                <a:latin typeface="Aptos"/>
                <a:ea typeface="Calibri"/>
              </a:rPr>
              <a:t>을 별도 </a:t>
            </a:r>
            <a:r>
              <a:rPr b="0" lang="en-US" sz="1200" spc="-1" strike="noStrike">
                <a:solidFill>
                  <a:srgbClr val="475569"/>
                </a:solidFill>
                <a:latin typeface="Aptos"/>
                <a:ea typeface="Calibri"/>
              </a:rPr>
              <a:t>thread</a:t>
            </a:r>
            <a:r>
              <a:rPr b="0" lang="ko-KR" sz="1200" spc="-1" strike="noStrike">
                <a:solidFill>
                  <a:srgbClr val="475569"/>
                </a:solidFill>
                <a:latin typeface="Aptos"/>
                <a:ea typeface="Calibri"/>
              </a:rPr>
              <a:t>로 분리했습니다</a:t>
            </a:r>
            <a:r>
              <a:rPr b="0" lang="en-US" sz="1200" spc="-1" strike="noStrike">
                <a:solidFill>
                  <a:srgbClr val="475569"/>
                </a:solidFill>
                <a:latin typeface="Aptos"/>
                <a:ea typeface="Calibri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0" name="Rounded Rectangle 5"/>
          <p:cNvSpPr/>
          <p:nvPr/>
        </p:nvSpPr>
        <p:spPr>
          <a:xfrm>
            <a:off x="502920" y="1417320"/>
            <a:ext cx="3060360" cy="10490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8890">
            <a:solidFill>
              <a:srgbClr val="cbd5e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71" name="TextBox 6"/>
          <p:cNvSpPr/>
          <p:nvPr/>
        </p:nvSpPr>
        <p:spPr>
          <a:xfrm>
            <a:off x="631080" y="1508760"/>
            <a:ext cx="280440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ko-KR" sz="1000" spc="-1" strike="noStrike">
                <a:solidFill>
                  <a:srgbClr val="ef4444"/>
                </a:solidFill>
                <a:latin typeface="Aptos"/>
                <a:ea typeface="Calibri"/>
              </a:rPr>
              <a:t>문제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2" name="TextBox 7"/>
          <p:cNvSpPr/>
          <p:nvPr/>
        </p:nvSpPr>
        <p:spPr>
          <a:xfrm>
            <a:off x="631080" y="1801440"/>
            <a:ext cx="280440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FastAPI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는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REST/WebSocket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요청을 계속 처리해야 하고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, ROS2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는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spin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으로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timer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와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callback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을 계속 처리해야 했습니다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.</a:t>
            </a:r>
            <a:endParaRPr b="0" lang="en-US" sz="10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3" name="Rounded Rectangle 8"/>
          <p:cNvSpPr/>
          <p:nvPr/>
        </p:nvSpPr>
        <p:spPr>
          <a:xfrm>
            <a:off x="502920" y="2548800"/>
            <a:ext cx="3060360" cy="10486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8890">
            <a:solidFill>
              <a:srgbClr val="cbd5e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74" name="TextBox 9"/>
          <p:cNvSpPr/>
          <p:nvPr/>
        </p:nvSpPr>
        <p:spPr>
          <a:xfrm>
            <a:off x="631080" y="2560320"/>
            <a:ext cx="280440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ko-KR" sz="1000" spc="-1" strike="noStrike">
                <a:solidFill>
                  <a:srgbClr val="f59e0b"/>
                </a:solidFill>
                <a:latin typeface="Aptos"/>
                <a:ea typeface="Calibri"/>
              </a:rPr>
              <a:t>원인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5" name="TextBox 10"/>
          <p:cNvSpPr/>
          <p:nvPr/>
        </p:nvSpPr>
        <p:spPr>
          <a:xfrm>
            <a:off x="631080" y="2853000"/>
            <a:ext cx="280440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두 작업은 모두 계속 실행되는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blocking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성격이 있어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,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같은 실행 흐름에서 순서대로 실행하면 한쪽이 다른 쪽을 막을 수 있었습니다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.</a:t>
            </a:r>
            <a:endParaRPr b="0" lang="en-US" sz="10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6" name="Rounded Rectangle 11"/>
          <p:cNvSpPr/>
          <p:nvPr/>
        </p:nvSpPr>
        <p:spPr>
          <a:xfrm>
            <a:off x="502920" y="3657600"/>
            <a:ext cx="3060360" cy="10198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8890">
            <a:solidFill>
              <a:srgbClr val="cbd5e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77" name="TextBox 12"/>
          <p:cNvSpPr/>
          <p:nvPr/>
        </p:nvSpPr>
        <p:spPr>
          <a:xfrm>
            <a:off x="631080" y="3749040"/>
            <a:ext cx="280440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ko-KR" sz="1000" spc="-1" strike="noStrike">
                <a:solidFill>
                  <a:srgbClr val="0ea5a4"/>
                </a:solidFill>
                <a:latin typeface="Aptos"/>
                <a:ea typeface="Calibri"/>
              </a:rPr>
              <a:t>해결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8" name="TextBox 13"/>
          <p:cNvSpPr/>
          <p:nvPr/>
        </p:nvSpPr>
        <p:spPr>
          <a:xfrm>
            <a:off x="631080" y="4041720"/>
            <a:ext cx="280440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FastAPI lifespan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에서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RosMonitor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를 시작하고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, rclpy.spin()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은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daemon thread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에서 실행하도록 분리했습니다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.</a:t>
            </a:r>
            <a:endParaRPr b="0" lang="en-US" sz="10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9" name="Rounded Rectangle 14"/>
          <p:cNvSpPr/>
          <p:nvPr/>
        </p:nvSpPr>
        <p:spPr>
          <a:xfrm>
            <a:off x="502920" y="4813560"/>
            <a:ext cx="3060360" cy="9439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8890">
            <a:solidFill>
              <a:srgbClr val="cbd5e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80" name="TextBox 15"/>
          <p:cNvSpPr/>
          <p:nvPr/>
        </p:nvSpPr>
        <p:spPr>
          <a:xfrm>
            <a:off x="613080" y="4860000"/>
            <a:ext cx="280440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ko-KR" sz="1000" spc="-1" strike="noStrike">
                <a:solidFill>
                  <a:srgbClr val="10b981"/>
                </a:solidFill>
                <a:latin typeface="Aptos"/>
                <a:ea typeface="Calibri"/>
              </a:rPr>
              <a:t>결과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1" name="TextBox 16"/>
          <p:cNvSpPr/>
          <p:nvPr/>
        </p:nvSpPr>
        <p:spPr>
          <a:xfrm>
            <a:off x="631080" y="5067000"/>
            <a:ext cx="280440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웹 요청 처리와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ROS2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메시지 수신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·Graph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갱신을 동시에 유지하고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,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서버 종료 시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ROS2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자원도 함께 정리했습니다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.</a:t>
            </a:r>
            <a:endParaRPr b="0" lang="en-US" sz="10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2" name="TextBox 17"/>
          <p:cNvSpPr/>
          <p:nvPr/>
        </p:nvSpPr>
        <p:spPr>
          <a:xfrm>
            <a:off x="3886200" y="1408320"/>
            <a:ext cx="118584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ef4444"/>
                </a:solidFill>
                <a:latin typeface="Aptos"/>
                <a:ea typeface="Calibri"/>
              </a:rPr>
              <a:t>BEFORE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3" name="Rounded Rectangle 18"/>
          <p:cNvSpPr/>
          <p:nvPr/>
        </p:nvSpPr>
        <p:spPr>
          <a:xfrm>
            <a:off x="3886200" y="1719000"/>
            <a:ext cx="2054520" cy="3996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ef444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84" name="TextBox 19"/>
          <p:cNvSpPr/>
          <p:nvPr/>
        </p:nvSpPr>
        <p:spPr>
          <a:xfrm>
            <a:off x="3931920" y="1847880"/>
            <a:ext cx="19630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Main Thread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5" name="Rounded Rectangle 20"/>
          <p:cNvSpPr/>
          <p:nvPr/>
        </p:nvSpPr>
        <p:spPr>
          <a:xfrm>
            <a:off x="3886200" y="2331720"/>
            <a:ext cx="2054520" cy="65556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ef444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86" name="TextBox 21"/>
          <p:cNvSpPr/>
          <p:nvPr/>
        </p:nvSpPr>
        <p:spPr>
          <a:xfrm>
            <a:off x="3931920" y="2516400"/>
            <a:ext cx="196308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FastAPI </a:t>
            </a:r>
            <a:r>
              <a:rPr b="1" lang="ko-KR" sz="950" spc="-1" strike="noStrike">
                <a:solidFill>
                  <a:srgbClr val="0f172a"/>
                </a:solidFill>
                <a:latin typeface="Aptos"/>
                <a:ea typeface="Calibri"/>
              </a:rPr>
              <a:t>실행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  <a:p>
            <a:pPr algn="ctr">
              <a:lnSpc>
                <a:spcPct val="100000"/>
              </a:lnSpc>
            </a:pPr>
            <a:r>
              <a:rPr b="1" lang="ko-KR" sz="950" spc="-1" strike="noStrike">
                <a:solidFill>
                  <a:srgbClr val="0f172a"/>
                </a:solidFill>
                <a:latin typeface="Aptos"/>
                <a:ea typeface="Calibri"/>
              </a:rPr>
              <a:t>또는 </a:t>
            </a: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rclpy.spin()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7" name="Rounded Rectangle 22"/>
          <p:cNvSpPr/>
          <p:nvPr/>
        </p:nvSpPr>
        <p:spPr>
          <a:xfrm>
            <a:off x="3886200" y="3273480"/>
            <a:ext cx="2054520" cy="65556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ef444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88" name="TextBox 23"/>
          <p:cNvSpPr/>
          <p:nvPr/>
        </p:nvSpPr>
        <p:spPr>
          <a:xfrm>
            <a:off x="3931920" y="3458160"/>
            <a:ext cx="196308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ko-KR" sz="950" spc="-1" strike="noStrike">
                <a:solidFill>
                  <a:srgbClr val="0f172a"/>
                </a:solidFill>
                <a:latin typeface="Aptos"/>
                <a:ea typeface="Calibri"/>
              </a:rPr>
              <a:t>한쪽이 계속 대기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  <a:p>
            <a:pPr algn="ctr">
              <a:lnSpc>
                <a:spcPct val="100000"/>
              </a:lnSpc>
            </a:pPr>
            <a:r>
              <a:rPr b="1" lang="ko-KR" sz="950" spc="-1" strike="noStrike">
                <a:solidFill>
                  <a:srgbClr val="0f172a"/>
                </a:solidFill>
                <a:latin typeface="Aptos"/>
                <a:ea typeface="Calibri"/>
              </a:rPr>
              <a:t>다른 작업 실행 지연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389" name="Connector 24"/>
          <p:cNvCxnSpPr/>
          <p:nvPr/>
        </p:nvCxnSpPr>
        <p:spPr>
          <a:xfrm>
            <a:off x="4919400" y="2139480"/>
            <a:ext cx="2880" cy="167400"/>
          </a:xfrm>
          <a:prstGeom prst="straightConnector1">
            <a:avLst/>
          </a:prstGeom>
          <a:ln w="0">
            <a:solidFill>
              <a:srgbClr val="ef4444"/>
            </a:solidFill>
          </a:ln>
        </p:spPr>
      </p:cxnSp>
      <p:cxnSp>
        <p:nvCxnSpPr>
          <p:cNvPr id="390" name="Connector 25"/>
          <p:cNvCxnSpPr/>
          <p:nvPr/>
        </p:nvCxnSpPr>
        <p:spPr>
          <a:xfrm>
            <a:off x="4919400" y="3008160"/>
            <a:ext cx="2880" cy="240840"/>
          </a:xfrm>
          <a:prstGeom prst="straightConnector1">
            <a:avLst/>
          </a:prstGeom>
          <a:ln w="0">
            <a:solidFill>
              <a:srgbClr val="ef4444"/>
            </a:solidFill>
          </a:ln>
        </p:spPr>
      </p:cxnSp>
      <p:sp>
        <p:nvSpPr>
          <p:cNvPr id="391" name="TextBox 26"/>
          <p:cNvSpPr/>
          <p:nvPr/>
        </p:nvSpPr>
        <p:spPr>
          <a:xfrm>
            <a:off x="4507920" y="4041720"/>
            <a:ext cx="127728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ef4444"/>
                </a:solidFill>
                <a:latin typeface="Aptos"/>
                <a:ea typeface="Calibri"/>
              </a:rPr>
              <a:t>blocking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2" name="TextBox 27"/>
          <p:cNvSpPr/>
          <p:nvPr/>
        </p:nvSpPr>
        <p:spPr>
          <a:xfrm>
            <a:off x="6766560" y="1408320"/>
            <a:ext cx="118584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ea5a4"/>
                </a:solidFill>
                <a:latin typeface="Aptos"/>
                <a:ea typeface="Calibri"/>
              </a:rPr>
              <a:t>AFTER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3" name="Rounded Rectangle 28"/>
          <p:cNvSpPr/>
          <p:nvPr/>
        </p:nvSpPr>
        <p:spPr>
          <a:xfrm>
            <a:off x="6766560" y="1719000"/>
            <a:ext cx="2054520" cy="3996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0ea5a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94" name="TextBox 29"/>
          <p:cNvSpPr/>
          <p:nvPr/>
        </p:nvSpPr>
        <p:spPr>
          <a:xfrm>
            <a:off x="6812280" y="1847880"/>
            <a:ext cx="19630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Main Thread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5" name="Rounded Rectangle 30"/>
          <p:cNvSpPr/>
          <p:nvPr/>
        </p:nvSpPr>
        <p:spPr>
          <a:xfrm>
            <a:off x="6766560" y="2331720"/>
            <a:ext cx="2054520" cy="65556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0ea5a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96" name="TextBox 31"/>
          <p:cNvSpPr/>
          <p:nvPr/>
        </p:nvSpPr>
        <p:spPr>
          <a:xfrm>
            <a:off x="6812280" y="2516400"/>
            <a:ext cx="196308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FastAPI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REST / WebSocket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7" name="Rounded Rectangle 32"/>
          <p:cNvSpPr/>
          <p:nvPr/>
        </p:nvSpPr>
        <p:spPr>
          <a:xfrm>
            <a:off x="9144000" y="1719000"/>
            <a:ext cx="2054520" cy="3996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0ea5a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98" name="TextBox 33"/>
          <p:cNvSpPr/>
          <p:nvPr/>
        </p:nvSpPr>
        <p:spPr>
          <a:xfrm>
            <a:off x="9189720" y="1847880"/>
            <a:ext cx="19630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ROS2 Spin Thread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9" name="Rounded Rectangle 34"/>
          <p:cNvSpPr/>
          <p:nvPr/>
        </p:nvSpPr>
        <p:spPr>
          <a:xfrm>
            <a:off x="9144000" y="2331720"/>
            <a:ext cx="2054520" cy="65556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0ea5a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00" name="TextBox 35"/>
          <p:cNvSpPr/>
          <p:nvPr/>
        </p:nvSpPr>
        <p:spPr>
          <a:xfrm>
            <a:off x="9189720" y="2516400"/>
            <a:ext cx="196308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rclpy.spin()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timer / callback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401" name="Connector 36"/>
          <p:cNvCxnSpPr/>
          <p:nvPr/>
        </p:nvCxnSpPr>
        <p:spPr>
          <a:xfrm>
            <a:off x="8869680" y="2679120"/>
            <a:ext cx="277200" cy="2880"/>
          </a:xfrm>
          <a:prstGeom prst="straightConnector1">
            <a:avLst/>
          </a:prstGeom>
          <a:ln w="0">
            <a:solidFill>
              <a:srgbClr val="0ea5a4"/>
            </a:solidFill>
          </a:ln>
        </p:spPr>
      </p:cxnSp>
      <p:sp>
        <p:nvSpPr>
          <p:cNvPr id="402" name="TextBox 37"/>
          <p:cNvSpPr/>
          <p:nvPr/>
        </p:nvSpPr>
        <p:spPr>
          <a:xfrm>
            <a:off x="8092440" y="3154680"/>
            <a:ext cx="1780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ko-KR" sz="1200" spc="-1" strike="noStrike">
                <a:solidFill>
                  <a:srgbClr val="0ea5a4"/>
                </a:solidFill>
                <a:latin typeface="Aptos"/>
                <a:ea typeface="Calibri"/>
              </a:rPr>
              <a:t>동시에 실행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403" name="Picture 38" descr="1e56b5ef-0fa1-412f-bdbb-d92b084fb9b7.png"/>
          <p:cNvPicPr/>
          <p:nvPr/>
        </p:nvPicPr>
        <p:blipFill>
          <a:blip r:embed="rId1"/>
          <a:stretch/>
        </p:blipFill>
        <p:spPr>
          <a:xfrm>
            <a:off x="3840480" y="4498920"/>
            <a:ext cx="3151800" cy="1554480"/>
          </a:xfrm>
          <a:prstGeom prst="rect">
            <a:avLst/>
          </a:prstGeom>
          <a:ln w="0">
            <a:noFill/>
          </a:ln>
        </p:spPr>
      </p:pic>
      <p:pic>
        <p:nvPicPr>
          <p:cNvPr id="404" name="Picture 39" descr="569d6930-8348-4474-95f2-d05bb2fe0853.png"/>
          <p:cNvPicPr/>
          <p:nvPr/>
        </p:nvPicPr>
        <p:blipFill>
          <a:blip r:embed="rId2"/>
          <a:stretch/>
        </p:blipFill>
        <p:spPr>
          <a:xfrm>
            <a:off x="7498080" y="4498920"/>
            <a:ext cx="2740320" cy="1963440"/>
          </a:xfrm>
          <a:prstGeom prst="rect">
            <a:avLst/>
          </a:prstGeom>
          <a:ln w="0">
            <a:noFill/>
          </a:ln>
        </p:spPr>
      </p:pic>
      <p:sp>
        <p:nvSpPr>
          <p:cNvPr id="405" name="TextBox 40"/>
          <p:cNvSpPr/>
          <p:nvPr/>
        </p:nvSpPr>
        <p:spPr>
          <a:xfrm>
            <a:off x="4872600" y="4224600"/>
            <a:ext cx="4700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ko-KR" sz="850" spc="-1" strike="noStrike">
                <a:solidFill>
                  <a:srgbClr val="475569"/>
                </a:solidFill>
                <a:latin typeface="Aptos"/>
                <a:ea typeface="Calibri"/>
              </a:rPr>
              <a:t>코드 근거</a:t>
            </a:r>
            <a:r>
              <a:rPr b="0" lang="en-US" sz="850" spc="-1" strike="noStrike">
                <a:solidFill>
                  <a:srgbClr val="475569"/>
                </a:solidFill>
                <a:latin typeface="Aptos"/>
                <a:ea typeface="Calibri"/>
              </a:rPr>
              <a:t>: lifespan</a:t>
            </a:r>
            <a:r>
              <a:rPr b="0" lang="ko-KR" sz="850" spc="-1" strike="noStrike">
                <a:solidFill>
                  <a:srgbClr val="475569"/>
                </a:solidFill>
                <a:latin typeface="Aptos"/>
                <a:ea typeface="Calibri"/>
              </a:rPr>
              <a:t>에서 </a:t>
            </a:r>
            <a:r>
              <a:rPr b="0" lang="en-US" sz="850" spc="-1" strike="noStrike">
                <a:solidFill>
                  <a:srgbClr val="475569"/>
                </a:solidFill>
                <a:latin typeface="Aptos"/>
                <a:ea typeface="Calibri"/>
              </a:rPr>
              <a:t>start/stop </a:t>
            </a:r>
            <a:r>
              <a:rPr b="0" lang="ko-KR" sz="850" spc="-1" strike="noStrike">
                <a:solidFill>
                  <a:srgbClr val="475569"/>
                </a:solidFill>
                <a:latin typeface="Aptos"/>
                <a:ea typeface="Calibri"/>
              </a:rPr>
              <a:t>연결 </a:t>
            </a:r>
            <a:r>
              <a:rPr b="0" lang="en-US" sz="850" spc="-1" strike="noStrike">
                <a:solidFill>
                  <a:srgbClr val="475569"/>
                </a:solidFill>
                <a:latin typeface="Aptos"/>
                <a:ea typeface="Calibri"/>
              </a:rPr>
              <a:t>· Thread(target=self._spin, daemon=True)</a:t>
            </a:r>
            <a:r>
              <a:rPr b="0" lang="ko-KR" sz="850" spc="-1" strike="noStrike">
                <a:solidFill>
                  <a:srgbClr val="475569"/>
                </a:solidFill>
                <a:latin typeface="Aptos"/>
                <a:ea typeface="Calibri"/>
              </a:rPr>
              <a:t>로 </a:t>
            </a:r>
            <a:r>
              <a:rPr b="0" lang="en-US" sz="850" spc="-1" strike="noStrike">
                <a:solidFill>
                  <a:srgbClr val="475569"/>
                </a:solidFill>
                <a:latin typeface="Aptos"/>
                <a:ea typeface="Calibri"/>
              </a:rPr>
              <a:t>spin </a:t>
            </a:r>
            <a:r>
              <a:rPr b="0" lang="ko-KR" sz="850" spc="-1" strike="noStrike">
                <a:solidFill>
                  <a:srgbClr val="475569"/>
                </a:solidFill>
                <a:latin typeface="Aptos"/>
                <a:ea typeface="Calibri"/>
              </a:rPr>
              <a:t>분리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6" name="Rectangle 11"/>
          <p:cNvSpPr/>
          <p:nvPr/>
        </p:nvSpPr>
        <p:spPr>
          <a:xfrm>
            <a:off x="0" y="0"/>
            <a:ext cx="12188520" cy="69480"/>
          </a:xfrm>
          <a:prstGeom prst="rect">
            <a:avLst/>
          </a:prstGeom>
          <a:solidFill>
            <a:srgbClr val="00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Rectangle 1"/>
          <p:cNvSpPr/>
          <p:nvPr/>
        </p:nvSpPr>
        <p:spPr>
          <a:xfrm>
            <a:off x="0" y="0"/>
            <a:ext cx="12191760" cy="63720"/>
          </a:xfrm>
          <a:prstGeom prst="rect">
            <a:avLst/>
          </a:prstGeom>
          <a:solidFill>
            <a:srgbClr val="009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08" name="TextBox 2"/>
          <p:cNvSpPr/>
          <p:nvPr/>
        </p:nvSpPr>
        <p:spPr>
          <a:xfrm>
            <a:off x="640080" y="298800"/>
            <a:ext cx="182844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750" spc="-1" strike="noStrike">
                <a:solidFill>
                  <a:srgbClr val="082d4b"/>
                </a:solidFill>
                <a:latin typeface="Malgun Gothic"/>
              </a:rPr>
              <a:t>NEXT STEP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9" name="TextBox 3"/>
          <p:cNvSpPr/>
          <p:nvPr/>
        </p:nvSpPr>
        <p:spPr>
          <a:xfrm>
            <a:off x="11384280" y="298800"/>
            <a:ext cx="31968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0000"/>
              </a:lnSpc>
            </a:pPr>
            <a:r>
              <a:rPr b="1" lang="en-US" sz="750" spc="-1" strike="noStrike">
                <a:solidFill>
                  <a:srgbClr val="465a6e"/>
                </a:solidFill>
                <a:latin typeface="Malgun Gothic"/>
              </a:rPr>
              <a:t>20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0" name="TextBox 4"/>
          <p:cNvSpPr/>
          <p:nvPr/>
        </p:nvSpPr>
        <p:spPr>
          <a:xfrm>
            <a:off x="3154680" y="519120"/>
            <a:ext cx="603468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2300" spc="-1" strike="noStrike">
                <a:solidFill>
                  <a:srgbClr val="082d4b"/>
                </a:solidFill>
                <a:latin typeface="Malgun Gothic"/>
              </a:rPr>
              <a:t> </a:t>
            </a:r>
            <a:r>
              <a:rPr b="1" lang="ko-KR" sz="2300" spc="-1" strike="noStrike">
                <a:solidFill>
                  <a:srgbClr val="082d4b"/>
                </a:solidFill>
                <a:latin typeface="Malgun Gothic"/>
              </a:rPr>
              <a:t>확장 개발</a:t>
            </a:r>
            <a:endParaRPr b="0" lang="en-US" sz="2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1" name="TextBox 5"/>
          <p:cNvSpPr/>
          <p:nvPr/>
        </p:nvSpPr>
        <p:spPr>
          <a:xfrm>
            <a:off x="1828800" y="1044000"/>
            <a:ext cx="859500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ko-KR" sz="1050" spc="-1" strike="noStrike">
                <a:solidFill>
                  <a:srgbClr val="4b5f73"/>
                </a:solidFill>
                <a:latin typeface="Malgun Gothic"/>
              </a:rPr>
              <a:t>현재 구현된 </a:t>
            </a:r>
            <a:r>
              <a:rPr b="0" lang="en-US" sz="1050" spc="-1" strike="noStrike">
                <a:solidFill>
                  <a:srgbClr val="4b5f73"/>
                </a:solidFill>
                <a:latin typeface="Malgun Gothic"/>
              </a:rPr>
              <a:t>Monitoring / Interface Lab</a:t>
            </a:r>
            <a:r>
              <a:rPr b="0" lang="ko-KR" sz="1050" spc="-1" strike="noStrike">
                <a:solidFill>
                  <a:srgbClr val="4b5f73"/>
                </a:solidFill>
                <a:latin typeface="Malgun Gothic"/>
              </a:rPr>
              <a:t>을 기반으로 현장 장비화와 지능형 진단까지 확장합니다</a:t>
            </a:r>
            <a:r>
              <a:rPr b="0" lang="en-US" sz="1050" spc="-1" strike="noStrike">
                <a:solidFill>
                  <a:srgbClr val="4b5f73"/>
                </a:solidFill>
                <a:latin typeface="Malgun Gothic"/>
              </a:rPr>
              <a:t>.</a:t>
            </a: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2" name="Rounded Rectangle 6"/>
          <p:cNvSpPr/>
          <p:nvPr/>
        </p:nvSpPr>
        <p:spPr>
          <a:xfrm>
            <a:off x="777240" y="1417320"/>
            <a:ext cx="5028840" cy="1352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3d7e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13" name="Rectangle 7"/>
          <p:cNvSpPr/>
          <p:nvPr/>
        </p:nvSpPr>
        <p:spPr>
          <a:xfrm>
            <a:off x="777240" y="1417320"/>
            <a:ext cx="63720" cy="1352880"/>
          </a:xfrm>
          <a:prstGeom prst="rect">
            <a:avLst/>
          </a:prstGeom>
          <a:solidFill>
            <a:srgbClr val="009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14" name="TextBox 8"/>
          <p:cNvSpPr/>
          <p:nvPr/>
        </p:nvSpPr>
        <p:spPr>
          <a:xfrm>
            <a:off x="1005840" y="1617840"/>
            <a:ext cx="44802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82d4b"/>
                </a:solidFill>
                <a:latin typeface="Malgun Gothic"/>
              </a:rPr>
              <a:t>1. </a:t>
            </a:r>
            <a:r>
              <a:rPr b="1" lang="ko-KR" sz="1200" spc="-1" strike="noStrike">
                <a:solidFill>
                  <a:srgbClr val="082d4b"/>
                </a:solidFill>
                <a:latin typeface="Malgun Gothic"/>
              </a:rPr>
              <a:t>현장형 엣지 모니터링 장비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5" name="TextBox 9"/>
          <p:cNvSpPr/>
          <p:nvPr/>
        </p:nvSpPr>
        <p:spPr>
          <a:xfrm>
            <a:off x="1005840" y="1920240"/>
            <a:ext cx="44344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2d4155"/>
                </a:solidFill>
                <a:latin typeface="Malgun Gothic"/>
              </a:rPr>
              <a:t>Jetson Nano·Raspberry Pi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</a:rPr>
              <a:t>와 터치 디스플레이에 대시보드를 탑재해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</a:rPr>
              <a:t>,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</a:rPr>
              <a:t>현장에서 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</a:rPr>
              <a:t>ROS2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</a:rPr>
              <a:t>연결 상태와 통신 이상을 바로 확인하는 독립형 진단 장비로 확장합니다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</a:rPr>
              <a:t>.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6" name="Rounded Rectangle 10"/>
          <p:cNvSpPr/>
          <p:nvPr/>
        </p:nvSpPr>
        <p:spPr>
          <a:xfrm>
            <a:off x="5989320" y="1417320"/>
            <a:ext cx="5028840" cy="1352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3d7e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17" name="Rectangle 11"/>
          <p:cNvSpPr/>
          <p:nvPr/>
        </p:nvSpPr>
        <p:spPr>
          <a:xfrm>
            <a:off x="5989320" y="1417320"/>
            <a:ext cx="63720" cy="1352880"/>
          </a:xfrm>
          <a:prstGeom prst="rect">
            <a:avLst/>
          </a:prstGeom>
          <a:solidFill>
            <a:srgbClr val="775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18" name="TextBox 12"/>
          <p:cNvSpPr/>
          <p:nvPr/>
        </p:nvSpPr>
        <p:spPr>
          <a:xfrm>
            <a:off x="6217920" y="1617840"/>
            <a:ext cx="44802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82d4b"/>
                </a:solidFill>
                <a:latin typeface="Malgun Gothic"/>
              </a:rPr>
              <a:t>2. LLM </a:t>
            </a:r>
            <a:r>
              <a:rPr b="1" lang="ko-KR" sz="1200" spc="-1" strike="noStrike">
                <a:solidFill>
                  <a:srgbClr val="082d4b"/>
                </a:solidFill>
                <a:latin typeface="Malgun Gothic"/>
              </a:rPr>
              <a:t>기반 장애 원인 추정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9" name="TextBox 13"/>
          <p:cNvSpPr/>
          <p:nvPr/>
        </p:nvSpPr>
        <p:spPr>
          <a:xfrm>
            <a:off x="6217920" y="1920240"/>
            <a:ext cx="44344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ko-KR" sz="850" spc="-1" strike="noStrike">
                <a:solidFill>
                  <a:srgbClr val="2d4155"/>
                </a:solidFill>
                <a:latin typeface="Malgun Gothic"/>
              </a:rPr>
              <a:t>통신 로그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</a:rPr>
              <a:t>, Alert, Node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</a:rPr>
              <a:t>상태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</a:rPr>
              <a:t>, Service Timeout, Action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</a:rPr>
              <a:t>실패 결과를 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</a:rPr>
              <a:t>LLM API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</a:rPr>
              <a:t>또는 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</a:rPr>
              <a:t>Local LLM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</a:rPr>
              <a:t>과 연결해 원인 후보와 우선 점검 항목을 제안합니다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</a:rPr>
              <a:t>.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0" name="Rounded Rectangle 14"/>
          <p:cNvSpPr/>
          <p:nvPr/>
        </p:nvSpPr>
        <p:spPr>
          <a:xfrm>
            <a:off x="777240" y="3246120"/>
            <a:ext cx="5028840" cy="1352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3d7e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21" name="Rectangle 15"/>
          <p:cNvSpPr/>
          <p:nvPr/>
        </p:nvSpPr>
        <p:spPr>
          <a:xfrm>
            <a:off x="777240" y="3246120"/>
            <a:ext cx="63720" cy="135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22" name="TextBox 16"/>
          <p:cNvSpPr/>
          <p:nvPr/>
        </p:nvSpPr>
        <p:spPr>
          <a:xfrm>
            <a:off x="1005840" y="3446640"/>
            <a:ext cx="44802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82d4b"/>
                </a:solidFill>
                <a:latin typeface="Malgun Gothic"/>
              </a:rPr>
              <a:t>3. </a:t>
            </a:r>
            <a:r>
              <a:rPr b="1" lang="ko-KR" sz="1200" spc="-1" strike="noStrike">
                <a:solidFill>
                  <a:srgbClr val="082d4b"/>
                </a:solidFill>
                <a:latin typeface="Malgun Gothic"/>
              </a:rPr>
              <a:t>주요 통신 자동 선별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3" name="TextBox 17"/>
          <p:cNvSpPr/>
          <p:nvPr/>
        </p:nvSpPr>
        <p:spPr>
          <a:xfrm>
            <a:off x="1005840" y="3749040"/>
            <a:ext cx="44344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2d4155"/>
                </a:solidFill>
                <a:latin typeface="Malgun Gothic"/>
              </a:rPr>
              <a:t>YAML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</a:rPr>
              <a:t>필터 조건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</a:rPr>
              <a:t>, Graph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</a:rPr>
              <a:t>관계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</a:rPr>
              <a:t>, Alert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</a:rPr>
              <a:t>발생 빈도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</a:rPr>
              <a:t>,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</a:rPr>
              <a:t>통신 의존도를 함께 분석해 우선 확인해야 할 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</a:rPr>
              <a:t>Topic·Service·Action·Node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</a:rPr>
              <a:t>를 자동 선별합니다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</a:rPr>
              <a:t>.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4" name="Rounded Rectangle 18"/>
          <p:cNvSpPr/>
          <p:nvPr/>
        </p:nvSpPr>
        <p:spPr>
          <a:xfrm>
            <a:off x="5989320" y="3246120"/>
            <a:ext cx="5028840" cy="1352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3d7e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25" name="Rectangle 19"/>
          <p:cNvSpPr/>
          <p:nvPr/>
        </p:nvSpPr>
        <p:spPr>
          <a:xfrm>
            <a:off x="5989320" y="3246120"/>
            <a:ext cx="63720" cy="1352880"/>
          </a:xfrm>
          <a:prstGeom prst="rect">
            <a:avLst/>
          </a:prstGeom>
          <a:solidFill>
            <a:srgbClr val="eb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26" name="TextBox 20"/>
          <p:cNvSpPr/>
          <p:nvPr/>
        </p:nvSpPr>
        <p:spPr>
          <a:xfrm>
            <a:off x="6217920" y="3446640"/>
            <a:ext cx="44802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82d4b"/>
                </a:solidFill>
                <a:latin typeface="Malgun Gothic"/>
              </a:rPr>
              <a:t>4. </a:t>
            </a:r>
            <a:r>
              <a:rPr b="1" lang="ko-KR" sz="1200" spc="-1" strike="noStrike">
                <a:solidFill>
                  <a:srgbClr val="082d4b"/>
                </a:solidFill>
                <a:latin typeface="Malgun Gothic"/>
              </a:rPr>
              <a:t>장비별 진단 프로파일 제공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7" name="TextBox 21"/>
          <p:cNvSpPr/>
          <p:nvPr/>
        </p:nvSpPr>
        <p:spPr>
          <a:xfrm>
            <a:off x="6217920" y="3749040"/>
            <a:ext cx="44344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ko-KR" sz="850" spc="-1" strike="noStrike">
                <a:solidFill>
                  <a:srgbClr val="2d4155"/>
                </a:solidFill>
                <a:latin typeface="Malgun Gothic"/>
              </a:rPr>
              <a:t>로봇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</a:rPr>
              <a:t>·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</a:rPr>
              <a:t>센서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</a:rPr>
              <a:t>·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</a:rPr>
              <a:t>제어기별 필수 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</a:rPr>
              <a:t>Interface,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</a:rPr>
              <a:t>정상 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</a:rPr>
              <a:t>Hz, Timeout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</a:rPr>
              <a:t>기준을 프로파일로 저장해 장비 연결 시 맞춤 점검 화면을 불러옵니다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</a:rPr>
              <a:t>.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8" name="Rounded Rectangle 22"/>
          <p:cNvSpPr/>
          <p:nvPr/>
        </p:nvSpPr>
        <p:spPr>
          <a:xfrm>
            <a:off x="777240" y="5559480"/>
            <a:ext cx="10515240" cy="621360"/>
          </a:xfrm>
          <a:prstGeom prst="roundRect">
            <a:avLst>
              <a:gd name="adj" fmla="val 12000"/>
            </a:avLst>
          </a:prstGeom>
          <a:solidFill>
            <a:srgbClr val="e5f8f6"/>
          </a:solidFill>
          <a:ln w="10160">
            <a:solidFill>
              <a:srgbClr val="78cdc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29" name="TextBox 23"/>
          <p:cNvSpPr/>
          <p:nvPr/>
        </p:nvSpPr>
        <p:spPr>
          <a:xfrm>
            <a:off x="960120" y="5775120"/>
            <a:ext cx="101494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ko-KR" sz="1000" spc="-1" strike="noStrike">
                <a:solidFill>
                  <a:srgbClr val="082d4b"/>
                </a:solidFill>
                <a:latin typeface="Malgun Gothic"/>
              </a:rPr>
              <a:t>최종 목표</a:t>
            </a:r>
            <a:r>
              <a:rPr b="1" lang="en-US" sz="1000" spc="-1" strike="noStrike">
                <a:solidFill>
                  <a:srgbClr val="082d4b"/>
                </a:solidFill>
                <a:latin typeface="Malgun Gothic"/>
              </a:rPr>
              <a:t>: ROS2 </a:t>
            </a:r>
            <a:r>
              <a:rPr b="1" lang="ko-KR" sz="1000" spc="-1" strike="noStrike">
                <a:solidFill>
                  <a:srgbClr val="082d4b"/>
                </a:solidFill>
                <a:latin typeface="Malgun Gothic"/>
              </a:rPr>
              <a:t>통신을 보여주는 대시보드를 넘어</a:t>
            </a:r>
            <a:r>
              <a:rPr b="1" lang="en-US" sz="1000" spc="-1" strike="noStrike">
                <a:solidFill>
                  <a:srgbClr val="082d4b"/>
                </a:solidFill>
                <a:latin typeface="Malgun Gothic"/>
              </a:rPr>
              <a:t>, </a:t>
            </a:r>
            <a:r>
              <a:rPr b="1" lang="ko-KR" sz="1000" spc="-1" strike="noStrike">
                <a:solidFill>
                  <a:srgbClr val="082d4b"/>
                </a:solidFill>
                <a:latin typeface="Malgun Gothic"/>
              </a:rPr>
              <a:t>현장에서 상태 확인</a:t>
            </a:r>
            <a:r>
              <a:rPr b="1" lang="en-US" sz="1000" spc="-1" strike="noStrike">
                <a:solidFill>
                  <a:srgbClr val="082d4b"/>
                </a:solidFill>
                <a:latin typeface="Malgun Gothic"/>
              </a:rPr>
              <a:t>·</a:t>
            </a:r>
            <a:r>
              <a:rPr b="1" lang="ko-KR" sz="1000" spc="-1" strike="noStrike">
                <a:solidFill>
                  <a:srgbClr val="082d4b"/>
                </a:solidFill>
                <a:latin typeface="Malgun Gothic"/>
              </a:rPr>
              <a:t>장애 분석</a:t>
            </a:r>
            <a:r>
              <a:rPr b="1" lang="en-US" sz="1000" spc="-1" strike="noStrike">
                <a:solidFill>
                  <a:srgbClr val="082d4b"/>
                </a:solidFill>
                <a:latin typeface="Malgun Gothic"/>
              </a:rPr>
              <a:t>·</a:t>
            </a:r>
            <a:r>
              <a:rPr b="1" lang="ko-KR" sz="1000" spc="-1" strike="noStrike">
                <a:solidFill>
                  <a:srgbClr val="082d4b"/>
                </a:solidFill>
                <a:latin typeface="Malgun Gothic"/>
              </a:rPr>
              <a:t>우선순위 판단까지 지원하는 지능형 진단 플랫폼으로 확장합니다</a:t>
            </a:r>
            <a:r>
              <a:rPr b="1" lang="en-US" sz="1000" spc="-1" strike="noStrike">
                <a:solidFill>
                  <a:srgbClr val="082d4b"/>
                </a:solidFill>
                <a:latin typeface="Malgun Gothic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2026-07-22T06:46:56Z</dcterms:created>
  <dc:creator>Walnut Exporter</dc:creator>
  <dc:description/>
  <dc:language>ko-KR</dc:language>
  <cp:lastModifiedBy/>
  <cp:lastPrinted>2026-07-24T14:14:51Z</cp:lastPrinted>
  <dcterms:modified xsi:type="dcterms:W3CDTF">2026-07-24T14:25:59Z</dcterms:modified>
  <cp:revision>33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